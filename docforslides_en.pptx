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691640"/>
            <a:ext cx="99060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9AA3B4"/>
                </a:solidFill>
                <a:latin typeface="Segoe UI"/>
              </a:rPr>
              <a:t>TWELVEGPT EDUCATIONAL · TECHNICAL DECK</a:t>
            </a:r>
          </a:p>
          <a:p>
            <a:pPr>
              <a:spcAft>
                <a:spcPts val="1400"/>
              </a:spcAft>
            </a:pPr>
            <a:r>
              <a:rPr sz="4400" b="1">
                <a:solidFill>
                  <a:srgbClr val="F4F5F7"/>
                </a:solidFill>
                <a:latin typeface="Segoe UI"/>
              </a:rPr>
              <a:t>Pressing Analyst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9AA3B4"/>
                </a:solidFill>
                <a:latin typeface="Segoe UI"/>
              </a:rPr>
              <a:t>Metrics &amp; prompt flow to the LLM</a:t>
            </a:r>
          </a:p>
          <a:p>
            <a:r>
              <a:rPr sz="1500">
                <a:solidFill>
                  <a:srgbClr val="5C6476"/>
                </a:solidFill>
                <a:latin typeface="Segoe UI"/>
              </a:rPr>
              <a:t>Data pipeline, synthesize_text, layered prompts, chat, and embeddings — technical overview (docforslides).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532120"/>
            <a:ext cx="1036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C6476"/>
                </a:solidFill>
                <a:latin typeface="Segoe UI"/>
              </a:rPr>
              <a:t>Source: docforslides.md  ·  Code: description.py · chat.py · pressing_analyst.py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1 / 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ARCHITECTURE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End-to-end data flow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CSV → statistics → team object → summary + chart + 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2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911705" cy="1417320"/>
          </a:xfrm>
          <a:prstGeom prst="roundRect">
            <a:avLst>
              <a:gd name="adj" fmla="val 6000"/>
            </a:avLst>
          </a:prstGeom>
          <a:solidFill>
            <a:srgbClr val="1F2436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883664"/>
            <a:ext cx="165567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6E28"/>
                </a:solidFill>
                <a:latin typeface="Segoe UI"/>
              </a:rPr>
              <a:t>01</a:t>
            </a:r>
          </a:p>
          <a:p>
            <a:r>
              <a:rPr sz="1400" b="1">
                <a:solidFill>
                  <a:srgbClr val="F4F5F7"/>
                </a:solidFill>
                <a:latin typeface="Segoe UI"/>
              </a:rPr>
              <a:t>Data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AA3B4"/>
                </a:solidFill>
                <a:latin typeface="Consolas"/>
              </a:rPr>
              <a:t>pressing_detailed_metrics.csv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7273" y="1737360"/>
            <a:ext cx="1911705" cy="1417320"/>
          </a:xfrm>
          <a:prstGeom prst="roundRect">
            <a:avLst>
              <a:gd name="adj" fmla="val 6000"/>
            </a:avLst>
          </a:prstGeom>
          <a:solidFill>
            <a:srgbClr val="181C2A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5289" y="1883664"/>
            <a:ext cx="165567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6E28"/>
                </a:solidFill>
                <a:latin typeface="Segoe UI"/>
              </a:rPr>
              <a:t>02</a:t>
            </a:r>
          </a:p>
          <a:p>
            <a:r>
              <a:rPr sz="1400" b="1">
                <a:solidFill>
                  <a:srgbClr val="F4F5F7"/>
                </a:solidFill>
                <a:latin typeface="Segoe UI"/>
              </a:rPr>
              <a:t>Stats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AA3B4"/>
                </a:solidFill>
                <a:latin typeface="Consolas"/>
              </a:rPr>
              <a:t>PressingStats → {metric}_Z, {metric}_Ranks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0146" y="1737360"/>
            <a:ext cx="1911705" cy="1417320"/>
          </a:xfrm>
          <a:prstGeom prst="roundRect">
            <a:avLst>
              <a:gd name="adj" fmla="val 6000"/>
            </a:avLst>
          </a:prstGeom>
          <a:solidFill>
            <a:srgbClr val="1F2436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8162" y="1883664"/>
            <a:ext cx="165567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6E28"/>
                </a:solidFill>
                <a:latin typeface="Segoe UI"/>
              </a:rPr>
              <a:t>03</a:t>
            </a:r>
          </a:p>
          <a:p>
            <a:r>
              <a:rPr sz="1400" b="1">
                <a:solidFill>
                  <a:srgbClr val="F4F5F7"/>
                </a:solidFill>
                <a:latin typeface="Segoe UI"/>
              </a:rPr>
              <a:t>Object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AA3B4"/>
                </a:solidFill>
                <a:latin typeface="Consolas"/>
              </a:rPr>
              <a:t>PressingTeam — ser_metrics, relevant_metrics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3019" y="1737360"/>
            <a:ext cx="1911705" cy="1417320"/>
          </a:xfrm>
          <a:prstGeom prst="roundRect">
            <a:avLst>
              <a:gd name="adj" fmla="val 6000"/>
            </a:avLst>
          </a:prstGeom>
          <a:solidFill>
            <a:srgbClr val="181C2A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1035" y="1883664"/>
            <a:ext cx="165567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6E28"/>
                </a:solidFill>
                <a:latin typeface="Segoe UI"/>
              </a:rPr>
              <a:t>04</a:t>
            </a:r>
          </a:p>
          <a:p>
            <a:r>
              <a:rPr sz="1400" b="1">
                <a:solidFill>
                  <a:srgbClr val="F4F5F7"/>
                </a:solidFill>
                <a:latin typeface="Segoe UI"/>
              </a:rPr>
              <a:t>Summary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AA3B4"/>
                </a:solidFill>
                <a:latin typeface="Consolas"/>
              </a:rPr>
              <a:t>PressingDescription.synthesize_text + stream_gpt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65892" y="1737360"/>
            <a:ext cx="1911705" cy="1417320"/>
          </a:xfrm>
          <a:prstGeom prst="roundRect">
            <a:avLst>
              <a:gd name="adj" fmla="val 6000"/>
            </a:avLst>
          </a:prstGeom>
          <a:solidFill>
            <a:srgbClr val="1F2436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93908" y="1883664"/>
            <a:ext cx="1655673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56E28"/>
                </a:solidFill>
                <a:latin typeface="Segoe UI"/>
              </a:rPr>
              <a:t>05</a:t>
            </a:r>
          </a:p>
          <a:p>
            <a:r>
              <a:rPr sz="1400" b="1">
                <a:solidFill>
                  <a:srgbClr val="F4F5F7"/>
                </a:solidFill>
                <a:latin typeface="Segoe UI"/>
              </a:rPr>
              <a:t>UI</a:t>
            </a:r>
          </a:p>
          <a:p>
            <a:pPr>
              <a:spcAft>
                <a:spcPts val="0"/>
              </a:spcAft>
            </a:pPr>
            <a:r>
              <a:rPr sz="1000">
                <a:solidFill>
                  <a:srgbClr val="9AA3B4"/>
                </a:solidFill>
                <a:latin typeface="Consolas"/>
              </a:rPr>
              <a:t>DistributionPlot + PressingChat (embedding)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10712"/>
            <a:ext cx="10363200" cy="920496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3666744"/>
            <a:ext cx="9851136" cy="408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Negatively oriented metrics are sign-flipped in z-space so “higher z = better” stays consistent everywhere.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On first load, both the distribution chart and the streamed briefing are generated; chat continues with the same summary + embeddings.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METRICS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Data layer &amp; direction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Eight core columns; PPDA and break rates are “lower raw = better”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3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363200" cy="426720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93392"/>
            <a:ext cx="9851136" cy="3755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chains_pm · recovery_opp_half_pm · force_long_ball_pm · press_break_rate_opp_half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lead_to_goal_after_broken_pm · pass_accuracy_under_pressure · line_breaking_pass_rate_under_pressure · ppda</a:t>
            </a:r>
          </a:p>
          <a:p>
            <a:pPr>
              <a:spcAft>
                <a:spcPts val="800"/>
              </a:spcAft>
            </a:p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Negative direction (lower raw = better): ppda, press_break_rate_opp_half, lead_to_goal_after_broken_pm, pass_accuracy_under_pressure, line_breaking_pass_rate_under_pressure → sign flipped in z-scores.</a:t>
            </a:r>
          </a:p>
          <a:p>
            <a:pPr>
              <a:spcAft>
                <a:spcPts val="800"/>
              </a:spcAft>
            </a:p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Level labels: describe_level(z) → outstanding … poor (utils/sentences.py).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TEXT GENERATION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synthesize_text() — what goes to the model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No raw table; direction-locked natural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4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363200" cy="376428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93392"/>
            <a:ext cx="9851136" cy="3252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METRIC_LABELS — column name → same English label as the chart.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METRIC_CONSEQUENCES — metric × level → one pitch consequence sentence (removes “is high PPDA good or bad?” ambiguity).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Each metric: consequence sentence + (visible label).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Key strengths: z &gt; 1.0   ·   Key concerns: z &lt; −0.5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Optional: high_medium_block_pct — skipped if absent from CSV.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93080"/>
            <a:ext cx="1036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C6476"/>
                </a:solidFill>
                <a:latin typeface="Segoe UI"/>
              </a:rPr>
              <a:t>Tip: the model never sees the table — only this generated text plus the prompt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PROMPT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setup_messages — layer order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Role → domain QA → task → few-shot → data block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5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5021580" cy="426720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93392"/>
            <a:ext cx="4509516" cy="3755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① get_intro_messages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   Tactical analyst, British English, football.</a:t>
            </a:r>
          </a:p>
          <a:p>
            <a:pPr>
              <a:spcAft>
                <a:spcPts val="800"/>
              </a:spcAft>
            </a:p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② data/describe/Pressing_analyst.csv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   Metric definitions and commentary (Q&amp;A).</a:t>
            </a:r>
          </a:p>
          <a:p>
            <a:pPr>
              <a:spcAft>
                <a:spcPts val="800"/>
              </a:spcAft>
            </a:p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③ get_prompt_messages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   Four-sentence briefing; no fabrication; no metric names / levels / parentheses in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6020" y="1737360"/>
            <a:ext cx="5021580" cy="426720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2052" y="1993392"/>
            <a:ext cx="4509516" cy="3755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④ data/gpt_examples/Pressing_analyst.csv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   Style few-shots (Liverpool, Arsenal, Nottingham).</a:t>
            </a:r>
          </a:p>
          <a:p>
            <a:pPr>
              <a:spcAft>
                <a:spcPts val="800"/>
              </a:spcAft>
            </a:p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⑤ Final user message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   Now do the same… synthesized_text inside a fenced block.</a:t>
            </a:r>
          </a:p>
          <a:p>
            <a:pPr>
              <a:spcAft>
                <a:spcPts val="800"/>
              </a:spcAft>
            </a:pP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300">
                <a:solidFill>
                  <a:srgbClr val="F4F5F7"/>
                </a:solidFill>
                <a:latin typeface="Segoe UI"/>
              </a:rPr>
              <a:t>stream_gpt — temperature=0.3, stream=True (pressing_analyst.py).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CHAT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PressingChat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Same data summary + retrieved Q&amp;A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6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363200" cy="426720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93392"/>
            <a:ext cx="9851136" cy="3755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instruction_messages — UK analyst; speak to the user; ~2 sentences; stay grounded in the text.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get_relevant_info — first PressingDescription.synthesize_text(), then top-5 search over embeddings/Pressing_analyst.parquet.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handle_input — relevant information + query wrapped in ```User: …```.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temperature=0.3, stream=True — aligned with the briefing; deterministic tone.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SUMMARY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One-line takeaways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For decks or executive briefings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7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363200" cy="130048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93392"/>
            <a:ext cx="9851136" cy="78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Normalised metrics + direction-locked consequence sentences = consistent interpretation.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20720"/>
            <a:ext cx="10363200" cy="130048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476752"/>
            <a:ext cx="9851136" cy="78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Layered prompt: role → describe → task → examples → single-block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04080"/>
            <a:ext cx="10363200" cy="130048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960112"/>
            <a:ext cx="9851136" cy="7884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Chat: summary + embeddings; system instructions constrain hallucinations.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DOCUMENTATION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pressing_prompts_overview.md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Draft notes may diverge from production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8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10363200" cy="426720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93392"/>
            <a:ext cx="9851136" cy="3755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Source of truth for behaviour and output format: get_prompt_messages and METRIC_CONSEQUENCES in classes/description.py.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Few-shot rows (gpt_examples) use plain tactical prose aligned with the current instructions.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5C6476"/>
                </a:solidFill>
                <a:latin typeface="Segoe UI"/>
              </a:rPr>
              <a:t>SOURCES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4F5F7"/>
                </a:solidFill>
                <a:latin typeface="Segoe UI"/>
              </a:rPr>
              <a:t>Repository files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9AA3B4"/>
                </a:solidFill>
                <a:latin typeface="Segoe UI"/>
              </a:rPr>
              <a:t>For review and further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9 / 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5021580" cy="426720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93392"/>
            <a:ext cx="4509516" cy="3755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pages/pressing_analyst.py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classes/description.py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classes/chat.py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classes/data_source.py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6020" y="1737360"/>
            <a:ext cx="5021580" cy="4267200"/>
          </a:xfrm>
          <a:prstGeom prst="roundRect">
            <a:avLst>
              <a:gd name="adj" fmla="val 8000"/>
            </a:avLst>
          </a:prstGeom>
          <a:solidFill>
            <a:srgbClr val="181C2A"/>
          </a:solidFill>
          <a:ln w="9525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2052" y="1993392"/>
            <a:ext cx="4509516" cy="37551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classes/embeddings.py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scripts/build_pressing_metrics.py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data/describe/Pressing_analyst.csv</a:t>
            </a:r>
          </a:p>
          <a:p>
            <a:pPr>
              <a:lnSpc>
                <a:spcPct val="122000"/>
              </a:lnSpc>
              <a:spcAft>
                <a:spcPts val="900"/>
              </a:spcAft>
            </a:pPr>
            <a:r>
              <a:rPr sz="1400">
                <a:solidFill>
                  <a:srgbClr val="F4F5F7"/>
                </a:solidFill>
                <a:latin typeface="Segoe UI"/>
              </a:rPr>
              <a:t>data/gpt_examples/Pressing_analyst.csv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6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4F5F7"/>
                </a:solidFill>
                <a:latin typeface="Segoe UI"/>
              </a:rPr>
              <a:t>Questions?</a:t>
            </a:r>
          </a:p>
          <a:p>
            <a:pPr algn="ctr">
              <a:spcBef>
                <a:spcPts val="1600"/>
              </a:spcBef>
            </a:pPr>
            <a:r>
              <a:rPr sz="1500">
                <a:solidFill>
                  <a:srgbClr val="9AA3B4"/>
                </a:solidFill>
                <a:latin typeface="Segoe UI"/>
              </a:rPr>
              <a:t>github.com/soccermatics/twelve-gpt-educational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10 / 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
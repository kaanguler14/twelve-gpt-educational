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417320"/>
            <a:ext cx="990600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9AA3B4"/>
                </a:solidFill>
                <a:latin typeface="Segoe UI"/>
              </a:rPr>
              <a:t>TwelveGPT Educational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4000" b="1">
                <a:solidFill>
                  <a:srgbClr val="F4F5F7"/>
                </a:solidFill>
                <a:latin typeface="Segoe UI"/>
              </a:rPr>
              <a:t>Pressing Analyst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9AA3B4"/>
                </a:solidFill>
                <a:latin typeface="Segoe UI"/>
              </a:rPr>
              <a:t>Genel bakış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606040"/>
            <a:ext cx="990600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600">
                <a:solidFill>
                  <a:srgbClr val="F4F5F7"/>
                </a:solidFill>
                <a:latin typeface="Segoe UI"/>
              </a:rPr>
              <a:t>Bu projede, takımların pressing performansını analiz eden bir sistem geliştirdik.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600">
                <a:solidFill>
                  <a:srgbClr val="F4F5F7"/>
                </a:solidFill>
                <a:latin typeface="Segoe UI"/>
              </a:rPr>
              <a:t>Veriyi alıp işliyoruz, anlamlı metriklere dönüştürüyoruz ve ardından bunu doğal dilde analiz eden bir AI pipeline kuruyoruz.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4206240"/>
            <a:ext cx="9906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Kod (örnek) — projeden: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34440" y="4498848"/>
            <a:ext cx="9906000" cy="1505712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35608" y="4700016"/>
            <a:ext cx="9503664" cy="1103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>
                <a:solidFill>
                  <a:srgbClr val="C5D0E0"/>
                </a:solidFill>
                <a:latin typeface="Consolas"/>
              </a:rPr>
              <a:t># pages/pressing_analyst.py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>
                <a:solidFill>
                  <a:srgbClr val="C5D0E0"/>
                </a:solidFill>
                <a:latin typeface="Consolas"/>
              </a:rPr>
              <a:t>description = PressingDescription(team)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>
                <a:solidFill>
                  <a:srgbClr val="C5D0E0"/>
                </a:solidFill>
                <a:latin typeface="Consolas"/>
              </a:rPr>
              <a:t>summary = description.stream_gpt(stream=True, temperature=0.3)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1 / 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2 · Mimari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Uçtan uca veri akışı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2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18626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Sistem uçtan uca bir veri akışıyla çalışıyor.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Önce CSV formatındaki veriyi alıyoruz, ardından istatistiksel olarak işliyoruz. Bu veriler bir takım objesine dönüştürülüyor ve sonrasında hem görselleştirme hem de AI tabanlı yorumlama üretiliyor.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28008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Kod (örnek) — projeden: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20616"/>
            <a:ext cx="10363200" cy="1983944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221784"/>
            <a:ext cx="9960864" cy="158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detailed_pressing = PressingStats(csv_path=DETAILED_CSV)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detailed_pressing.calculate_statistics(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    metrics=detailed_metrics,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    negative_metrics=detailed_negative_metrics,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3 · Metrikler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Sekiz temel metrik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3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2069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Analizde 8 temel metrik kullanıyoruz.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Bazı metriklerde düşük değer iyi performansı gösterdiği için, tüm metrikleri tutarlı hale getirmek adına bunları normalize edip yönlerini eşitliyoruz. Böylece her metrikte “yüksek = iyi” olacak şekilde yorum yapabiliyoruz.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4968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Kod (örnek) — projeden: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27576"/>
            <a:ext cx="10363200" cy="1776984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428744"/>
            <a:ext cx="9960864" cy="1374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DETAILED_NEGATIVE_METRICS = [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    "ppda",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    "press_break_rate_opp_half",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    "lead_to_goal_after_broken_pm",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    # ...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]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detailed_pressing.calculate_statistics(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    metrics=detailed_metrics,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    negative_metrics=detailed_negative_metrics,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4 · Metin üretimi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synthesize_text()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4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1986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AI modeline ham veri vermiyoruz.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Bunun yerine, metrikleri önce anlamlı cümlelere dönüştürüyoruz. Her metrik için sahadaki etkisini açıklayan kısa yorumlar üretiyoruz ve model sadece bu yorumlar üzerinden analiz yapıyor.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52184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Kod (örnek) — projeden: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44792"/>
            <a:ext cx="10363200" cy="1859768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345960"/>
            <a:ext cx="9960864" cy="145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classes/description.py — PressingDescription.synthesize_text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consequence = self.METRIC_CONSEQUENCES.get(metric, {}).get(level, "")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label = self.METRIC_LABELS.get(metric, metric)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description += f"{consequence} ({label}) 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5 · Prompt yapısı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Katmanlı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5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1986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Modelin doğru ve tutarlı cevaplar üretmesi için katmanlı bir prompt yapısı kullanıyoruz.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Önce modele rol veriyoruz, ardından domain bilgisi ekliyoruz. Daha sonra görev tanımı ve örnek çıktılarla modeli yönlendiriyoruz.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52184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Kod (örnek) — projeden: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44792"/>
            <a:ext cx="10363200" cy="1859768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345960"/>
            <a:ext cx="9960864" cy="145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Description.setup_messages() sırası: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1) get_intro_messages()   → rol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2) describe/Pressing_analyst.csv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3) get_prompt_messages()  → görev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4) gpt_examples/…csv      → few-shot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5) Now do the same… ```{synthesized_text}```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6 · Sohbet sistemi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PressingChat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6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1904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Kullanıcıyla etkileşim kısmında, model aynı özet bilgiyi kullanmaya devam ediyor.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Ek olarak embedding tabanlı arama ile en ilgili bilgileri getiriyoruz. Böylece model hem tutarlı hem de bağlama uygun cevaplar verebiliyor.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69400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Kod (örnek) — projeden: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062008"/>
            <a:ext cx="10363200" cy="1942552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263176"/>
            <a:ext cx="9960864" cy="1540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classes/chat.py — PressingChat.get_relevant_info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description = PressingDescription(self.team)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ret_val += description.synthesize_text()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results = self.embeddings.search(query, top_n=5)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# … assistant cevapları ret_val’a eklenir (top_n=5)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7 · Özet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Sistemin amacı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7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21523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Tüm sistemin amacı, karmaşık metrikleri sade ve tutarlı bir şekilde yorumlamak.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Bunun için normalize edilmiş veriler, iyi tasarlanmış promptlar ve kontrollü bir AI pipeline kullanıyoruz.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017751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Kod (örnek) — projeden: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310359"/>
            <a:ext cx="10363200" cy="1694201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511527"/>
            <a:ext cx="9960864" cy="1291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>
                <a:solidFill>
                  <a:srgbClr val="C5D0E0"/>
                </a:solidFill>
                <a:latin typeface="Consolas"/>
              </a:rPr>
              <a:t># pressing_analyst.py — düşük sıcaklık, tekrarlanabilir özet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1000">
                <a:solidFill>
                  <a:srgbClr val="C5D0E0"/>
                </a:solidFill>
                <a:latin typeface="Consolas"/>
              </a:rPr>
              <a:t>description.stream_gpt(stream=True, temperature=0.3)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8 · Dokümantasyon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Kod tek doğruluk kaynağı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8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19868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Sistemin nasıl çalıştığını anlamak için ana referans kod tarafındaki prompt ve açıklama yapılarıdır.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Dokümantasyon yardımcıdır ama gerçek davranışı kod belirler.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52184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Kod (örnek) — projeden: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44792"/>
            <a:ext cx="10363200" cy="1859768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345960"/>
            <a:ext cx="9960864" cy="1457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# classes/description.py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# PressingDescription.get_prompt_messages()  ← görev metni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# PressingDescription.METRIC_CONSEQUENCES      ← saha cümleleri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900">
                <a:solidFill>
                  <a:srgbClr val="C5D0E0"/>
                </a:solidFill>
                <a:latin typeface="Consolas"/>
              </a:rPr>
              <a:t>return [{"role": "user", "content": prompt}]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63200" cy="1097280"/>
          </a:xfrm>
          <a:prstGeom prst="rect">
            <a:avLst/>
          </a:prstGeom>
          <a:noFill/>
        </p:spPr>
        <p:txBody>
          <a:bodyPr wrap="square"/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5C6476"/>
                </a:solidFill>
                <a:latin typeface="Segoe UI"/>
              </a:rPr>
              <a:t>9 · Kaynaklar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2600" b="1">
                <a:solidFill>
                  <a:srgbClr val="F4F5F7"/>
                </a:solidFill>
                <a:latin typeface="Segoe UI"/>
              </a:rPr>
              <a:t>Modüler yapı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9 / 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737360"/>
            <a:ext cx="10363200" cy="173845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Projenin tüm bileşenleri modüler bir şekilde ayrılmış durumda.</a:t>
            </a:r>
          </a:p>
          <a:p>
            <a:pPr>
              <a:lnSpc>
                <a:spcPct val="128000"/>
              </a:lnSpc>
              <a:spcAft>
                <a:spcPts val="1100"/>
              </a:spcAft>
            </a:pPr>
            <a:r>
              <a:rPr sz="1500">
                <a:solidFill>
                  <a:srgbClr val="F4F5F7"/>
                </a:solidFill>
                <a:latin typeface="Segoe UI"/>
              </a:rPr>
              <a:t>Veri işleme, metin üretimi, chat ve embedding sistemleri ayrı dosyalarda yönetiliyor.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03833"/>
            <a:ext cx="103632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8B95A8"/>
                </a:solidFill>
                <a:latin typeface="Segoe UI"/>
              </a:rPr>
              <a:t>Kod (örnek) — projeden: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96441"/>
            <a:ext cx="10363200" cy="2108119"/>
          </a:xfrm>
          <a:prstGeom prst="roundRect">
            <a:avLst>
              <a:gd name="adj" fmla="val 4000"/>
            </a:avLst>
          </a:prstGeom>
          <a:solidFill>
            <a:srgbClr val="121624"/>
          </a:solidFill>
          <a:ln w="6350">
            <a:solidFill>
              <a:srgbClr val="2D34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4097609"/>
            <a:ext cx="9960864" cy="17057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pages/pressing_analyst.py          # Streamlit sayfası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classes/description.py           # PressingDescription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classes/chat.py                  # PressingChat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classes/data_source.py           # PressingStats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classes/embeddings.py            # PressingEmbeddings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data/describe/Pressing_analyst.csv</a:t>
            </a:r>
          </a:p>
          <a:p>
            <a:pPr>
              <a:lnSpc>
                <a:spcPct val="112000"/>
              </a:lnSpc>
              <a:spcAft>
                <a:spcPts val="200"/>
              </a:spcAft>
            </a:pPr>
            <a:r>
              <a:rPr sz="850">
                <a:solidFill>
                  <a:srgbClr val="C5D0E0"/>
                </a:solidFill>
                <a:latin typeface="Consolas"/>
              </a:rPr>
              <a:t>data/gpt_examples/Pressing_analyst.csv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0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51560"/>
          </a:xfrm>
          <a:prstGeom prst="rect">
            <a:avLst/>
          </a:prstGeom>
          <a:solidFill>
            <a:srgbClr val="1214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82296"/>
          </a:xfrm>
          <a:prstGeom prst="rect">
            <a:avLst/>
          </a:prstGeom>
          <a:solidFill>
            <a:srgbClr val="F56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1036320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800" b="1">
                <a:solidFill>
                  <a:srgbClr val="F4F5F7"/>
                </a:solidFill>
                <a:latin typeface="Segoe UI"/>
              </a:rPr>
              <a:t>Teşekkürler</a:t>
            </a:r>
          </a:p>
          <a:p>
            <a:pPr algn="ctr">
              <a:spcBef>
                <a:spcPts val="1800"/>
              </a:spcBef>
            </a:pPr>
            <a:r>
              <a:rPr sz="1800">
                <a:solidFill>
                  <a:srgbClr val="9AA3B4"/>
                </a:solidFill>
                <a:latin typeface="Segoe UI"/>
              </a:rPr>
              <a:t>Dinlediğiniz için teşekkür ederim.
Sorularınız varsa memnuniyetle yanıtlarım.</a:t>
            </a:r>
          </a:p>
          <a:p>
            <a:pPr algn="ctr">
              <a:spcBef>
                <a:spcPts val="2200"/>
              </a:spcBef>
            </a:pPr>
            <a:r>
              <a:rPr sz="1400">
                <a:solidFill>
                  <a:srgbClr val="5C6476"/>
                </a:solidFill>
                <a:latin typeface="Segoe UI"/>
              </a:rPr>
              <a:t>github.com/soccermatics/twelve-gpt-educational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461760"/>
            <a:ext cx="10363200" cy="9144"/>
          </a:xfrm>
          <a:prstGeom prst="rect">
            <a:avLst/>
          </a:prstGeom>
          <a:solidFill>
            <a:srgbClr val="2D34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476"/>
                </a:solidFill>
                <a:latin typeface="Segoe UI"/>
              </a:rPr>
              <a:t>Pressing Analyst · TwelveGPT Educational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525768"/>
            <a:ext cx="5181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>
                <a:solidFill>
                  <a:srgbClr val="5C6476"/>
                </a:solidFill>
                <a:latin typeface="Segoe UI"/>
              </a:rPr>
              <a:t>10 / 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
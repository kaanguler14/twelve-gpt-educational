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F56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417320"/>
            <a:ext cx="9906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9AA3B4"/>
                </a:solidFill>
                <a:latin typeface="Segoe UI"/>
              </a:rPr>
              <a:t>1 · Overview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4000" b="1">
                <a:solidFill>
                  <a:srgbClr val="F4F5F7"/>
                </a:solidFill>
                <a:latin typeface="Segoe UI"/>
              </a:rPr>
              <a:t>Pressing Analyst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9AA3B4"/>
                </a:solidFill>
                <a:latin typeface="Segoe UI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606040"/>
            <a:ext cx="990600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600">
                <a:solidFill>
                  <a:srgbClr val="F4F5F7"/>
                </a:solidFill>
                <a:latin typeface="Segoe UI"/>
              </a:rPr>
              <a:t>We built a system that analyses how teams press.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600">
                <a:solidFill>
                  <a:srgbClr val="F4F5F7"/>
                </a:solidFill>
                <a:latin typeface="Segoe UI"/>
              </a:rPr>
              <a:t>We ingest the data, turn it into meaningful metrics, then run an AI pipeline that explains the picture in natural language.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206240"/>
            <a:ext cx="990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B95A8"/>
                </a:solidFill>
                <a:latin typeface="Segoe UI"/>
              </a:rPr>
              <a:t>Code (example) from the repo: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34440" y="4498848"/>
            <a:ext cx="9906000" cy="1505712"/>
          </a:xfrm>
          <a:prstGeom prst="roundRect">
            <a:avLst>
              <a:gd name="adj" fmla="val 4000"/>
            </a:avLst>
          </a:prstGeom>
          <a:solidFill>
            <a:srgbClr val="121624"/>
          </a:solidFill>
          <a:ln w="6350">
            <a:solidFill>
              <a:srgbClr val="2D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35608" y="4700016"/>
            <a:ext cx="9503664" cy="1103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000">
                <a:solidFill>
                  <a:srgbClr val="C5D0E0"/>
                </a:solidFill>
                <a:latin typeface="Consolas"/>
              </a:rPr>
              <a:t># pages/pressing_analyst.py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000">
                <a:solidFill>
                  <a:srgbClr val="C5D0E0"/>
                </a:solidFill>
                <a:latin typeface="Consolas"/>
              </a:rPr>
              <a:t>description = PressingDescription(team)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000">
                <a:solidFill>
                  <a:srgbClr val="C5D0E0"/>
                </a:solidFill>
                <a:latin typeface="Consolas"/>
              </a:rPr>
              <a:t>summary = description.stream_gpt(stream=True, temperature=0.3)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461760"/>
            <a:ext cx="10363200" cy="9144"/>
          </a:xfrm>
          <a:prstGeom prst="rect">
            <a:avLst/>
          </a:prstGeom>
          <a:solidFill>
            <a:srgbClr val="2D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525768"/>
            <a:ext cx="518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C6476"/>
                </a:solidFill>
                <a:latin typeface="Segoe UI"/>
              </a:rPr>
              <a:t>Pressing Analyst · TwelveGPT Educational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0" y="6525768"/>
            <a:ext cx="518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C6476"/>
                </a:solidFill>
                <a:latin typeface="Segoe UI"/>
              </a:rPr>
              <a:t>1 / 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F56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77240"/>
            <a:ext cx="10363200" cy="10972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5C6476"/>
                </a:solidFill>
                <a:latin typeface="Segoe UI"/>
              </a:rPr>
              <a:t>2 · Architecture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F4F5F7"/>
                </a:solidFill>
                <a:latin typeface="Segoe UI"/>
              </a:rPr>
              <a:t>End-to-end data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6461760"/>
            <a:ext cx="10363200" cy="9144"/>
          </a:xfrm>
          <a:prstGeom prst="rect">
            <a:avLst/>
          </a:prstGeom>
          <a:solidFill>
            <a:srgbClr val="2D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525768"/>
            <a:ext cx="518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C6476"/>
                </a:solidFill>
                <a:latin typeface="Segoe UI"/>
              </a:rPr>
              <a:t>Pressing Analyst · TwelveGPT Educational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0" y="6525768"/>
            <a:ext cx="518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C6476"/>
                </a:solidFill>
                <a:latin typeface="Segoe UI"/>
              </a:rPr>
              <a:t>2 / 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10363200" cy="18626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500">
                <a:solidFill>
                  <a:srgbClr val="F4F5F7"/>
                </a:solidFill>
                <a:latin typeface="Segoe UI"/>
              </a:rPr>
              <a:t>The app is built around a single pipeline end to end.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500">
                <a:solidFill>
                  <a:srgbClr val="F4F5F7"/>
                </a:solidFill>
                <a:latin typeface="Segoe UI"/>
              </a:rPr>
              <a:t>We load CSV data, compute league statistics, wrap each side in a team object, then generate both the chart and the AI commentary from the same source.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28008"/>
            <a:ext cx="103632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B95A8"/>
                </a:solidFill>
                <a:latin typeface="Segoe UI"/>
              </a:rPr>
              <a:t>Code (example) from the repo: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020616"/>
            <a:ext cx="10363200" cy="1983944"/>
          </a:xfrm>
          <a:prstGeom prst="roundRect">
            <a:avLst>
              <a:gd name="adj" fmla="val 4000"/>
            </a:avLst>
          </a:prstGeom>
          <a:solidFill>
            <a:srgbClr val="121624"/>
          </a:solidFill>
          <a:ln w="6350">
            <a:solidFill>
              <a:srgbClr val="2D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4221784"/>
            <a:ext cx="9960864" cy="1581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900">
                <a:solidFill>
                  <a:srgbClr val="C5D0E0"/>
                </a:solidFill>
                <a:latin typeface="Consolas"/>
              </a:rPr>
              <a:t>detailed_pressing = PressingStats(csv_path=DETAILED_CSV)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900">
                <a:solidFill>
                  <a:srgbClr val="C5D0E0"/>
                </a:solidFill>
                <a:latin typeface="Consolas"/>
              </a:rPr>
              <a:t>detailed_pressing.calculate_statistics(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900">
                <a:solidFill>
                  <a:srgbClr val="C5D0E0"/>
                </a:solidFill>
                <a:latin typeface="Consolas"/>
              </a:rPr>
              <a:t>    metrics=detailed_metrics,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900">
                <a:solidFill>
                  <a:srgbClr val="C5D0E0"/>
                </a:solidFill>
                <a:latin typeface="Consolas"/>
              </a:rPr>
              <a:t>    negative_metrics=detailed_negative_metrics,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900">
                <a:solidFill>
                  <a:srgbClr val="C5D0E0"/>
                </a:solidFill>
                <a:latin typeface="Consolas"/>
              </a:rPr>
              <a:t>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F56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77240"/>
            <a:ext cx="10363200" cy="10972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5C6476"/>
                </a:solidFill>
                <a:latin typeface="Segoe UI"/>
              </a:rPr>
              <a:t>3 · Metrics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F4F5F7"/>
                </a:solidFill>
                <a:latin typeface="Segoe UI"/>
              </a:rPr>
              <a:t>Eight core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6461760"/>
            <a:ext cx="10363200" cy="9144"/>
          </a:xfrm>
          <a:prstGeom prst="rect">
            <a:avLst/>
          </a:prstGeom>
          <a:solidFill>
            <a:srgbClr val="2D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525768"/>
            <a:ext cx="518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C6476"/>
                </a:solidFill>
                <a:latin typeface="Segoe UI"/>
              </a:rPr>
              <a:t>Pressing Analyst · TwelveGPT Educational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0" y="6525768"/>
            <a:ext cx="518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C6476"/>
                </a:solidFill>
                <a:latin typeface="Segoe UI"/>
              </a:rPr>
              <a:t>3 / 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10363200" cy="2069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500">
                <a:solidFill>
                  <a:srgbClr val="F4F5F7"/>
                </a:solidFill>
                <a:latin typeface="Segoe UI"/>
              </a:rPr>
              <a:t>The model reads eight core pressing metrics.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500">
                <a:solidFill>
                  <a:srgbClr val="F4F5F7"/>
                </a:solidFill>
                <a:latin typeface="Segoe UI"/>
              </a:rPr>
              <a:t>For several of them, lower raw values mean better defending. We normalise and flip signs where needed so every bar reads the same way: "higher is better" everywhere.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4968"/>
            <a:ext cx="103632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B95A8"/>
                </a:solidFill>
                <a:latin typeface="Segoe UI"/>
              </a:rPr>
              <a:t>Code (example) from the repo: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227576"/>
            <a:ext cx="10363200" cy="1776984"/>
          </a:xfrm>
          <a:prstGeom prst="roundRect">
            <a:avLst>
              <a:gd name="adj" fmla="val 4000"/>
            </a:avLst>
          </a:prstGeom>
          <a:solidFill>
            <a:srgbClr val="121624"/>
          </a:solidFill>
          <a:ln w="6350">
            <a:solidFill>
              <a:srgbClr val="2D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4428744"/>
            <a:ext cx="9960864" cy="1374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DETAILED_NEGATIVE_METRICS = [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    "ppda",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    "press_break_rate_opp_half",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    "lead_to_goal_after_broken_pm",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    # ...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]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detailed_pressing.calculate_statistics(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    metrics=detailed_metrics,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    negative_metrics=detailed_negative_metrics,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F56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77240"/>
            <a:ext cx="10363200" cy="10972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5C6476"/>
                </a:solidFill>
                <a:latin typeface="Segoe UI"/>
              </a:rPr>
              <a:t>4 · Text generation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F4F5F7"/>
                </a:solidFill>
                <a:latin typeface="Segoe UI"/>
              </a:rPr>
              <a:t>synthesize_text()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6461760"/>
            <a:ext cx="10363200" cy="9144"/>
          </a:xfrm>
          <a:prstGeom prst="rect">
            <a:avLst/>
          </a:prstGeom>
          <a:solidFill>
            <a:srgbClr val="2D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525768"/>
            <a:ext cx="518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C6476"/>
                </a:solidFill>
                <a:latin typeface="Segoe UI"/>
              </a:rPr>
              <a:t>Pressing Analyst · TwelveGPT Educational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0" y="6525768"/>
            <a:ext cx="518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C6476"/>
                </a:solidFill>
                <a:latin typeface="Segoe UI"/>
              </a:rPr>
              <a:t>4 / 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10363200" cy="1986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500">
                <a:solidFill>
                  <a:srgbClr val="F4F5F7"/>
                </a:solidFill>
                <a:latin typeface="Segoe UI"/>
              </a:rPr>
              <a:t>We never paste the raw spreadsheet into the model.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500">
                <a:solidFill>
                  <a:srgbClr val="F4F5F7"/>
                </a:solidFill>
                <a:latin typeface="Segoe UI"/>
              </a:rPr>
              <a:t>Instead we turn each metric into short, pitch-level sentences. The LLM reasons only from that wording—labels plus what they imply tactically.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52184"/>
            <a:ext cx="103632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B95A8"/>
                </a:solidFill>
                <a:latin typeface="Segoe UI"/>
              </a:rPr>
              <a:t>Code (example) from the repo: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144792"/>
            <a:ext cx="10363200" cy="1859768"/>
          </a:xfrm>
          <a:prstGeom prst="roundRect">
            <a:avLst>
              <a:gd name="adj" fmla="val 4000"/>
            </a:avLst>
          </a:prstGeom>
          <a:solidFill>
            <a:srgbClr val="121624"/>
          </a:solidFill>
          <a:ln w="6350">
            <a:solidFill>
              <a:srgbClr val="2D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4345960"/>
            <a:ext cx="9960864" cy="145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# classes/description.py — PressingDescription.synthesize_text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consequence = self.METRIC_CONSEQUENCES.get(metric, {}).get(level, "")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label = self.METRIC_LABELS.get(metric, metric)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description += f"{consequence} ({label}) 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F56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77240"/>
            <a:ext cx="10363200" cy="10972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5C6476"/>
                </a:solidFill>
                <a:latin typeface="Segoe UI"/>
              </a:rPr>
              <a:t>5 · Prompt structure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F4F5F7"/>
                </a:solidFill>
                <a:latin typeface="Segoe UI"/>
              </a:rPr>
              <a:t>Layered prompts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6461760"/>
            <a:ext cx="10363200" cy="9144"/>
          </a:xfrm>
          <a:prstGeom prst="rect">
            <a:avLst/>
          </a:prstGeom>
          <a:solidFill>
            <a:srgbClr val="2D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525768"/>
            <a:ext cx="518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C6476"/>
                </a:solidFill>
                <a:latin typeface="Segoe UI"/>
              </a:rPr>
              <a:t>Pressing Analyst · TwelveGPT Educational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0" y="6525768"/>
            <a:ext cx="518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C6476"/>
                </a:solidFill>
                <a:latin typeface="Segoe UI"/>
              </a:rPr>
              <a:t>5 / 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10363200" cy="1986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500">
                <a:solidFill>
                  <a:srgbClr val="F4F5F7"/>
                </a:solidFill>
                <a:latin typeface="Segoe UI"/>
              </a:rPr>
              <a:t>To keep answers grounded we stack prompts in a fixed order.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500">
                <a:solidFill>
                  <a:srgbClr val="F4F5F7"/>
                </a:solidFill>
                <a:latin typeface="Segoe UI"/>
              </a:rPr>
              <a:t>We set the role, teach domain facts from CSV Q&amp;A, add the task text and few-shot examples, then attach the team profile inside a fenced block.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52184"/>
            <a:ext cx="103632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B95A8"/>
                </a:solidFill>
                <a:latin typeface="Segoe UI"/>
              </a:rPr>
              <a:t>Code (example) from the repo: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144792"/>
            <a:ext cx="10363200" cy="1859768"/>
          </a:xfrm>
          <a:prstGeom prst="roundRect">
            <a:avLst>
              <a:gd name="adj" fmla="val 4000"/>
            </a:avLst>
          </a:prstGeom>
          <a:solidFill>
            <a:srgbClr val="121624"/>
          </a:solidFill>
          <a:ln w="6350">
            <a:solidFill>
              <a:srgbClr val="2D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4345960"/>
            <a:ext cx="9960864" cy="145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# Description.setup_messages() order: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# 1) get_intro_messages()     — persona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# 2) describe/Pressing_analyst.csv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# 3) get_prompt_messages()    — task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# 4) gpt_examples/…csv        — few-shot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# 5) Now do the same… ```{synthesized_text}```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F56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77240"/>
            <a:ext cx="10363200" cy="10972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5C6476"/>
                </a:solidFill>
                <a:latin typeface="Segoe UI"/>
              </a:rPr>
              <a:t>6 · Chat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F4F5F7"/>
                </a:solidFill>
                <a:latin typeface="Segoe UI"/>
              </a:rPr>
              <a:t>PressingChat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6461760"/>
            <a:ext cx="10363200" cy="9144"/>
          </a:xfrm>
          <a:prstGeom prst="rect">
            <a:avLst/>
          </a:prstGeom>
          <a:solidFill>
            <a:srgbClr val="2D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525768"/>
            <a:ext cx="518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C6476"/>
                </a:solidFill>
                <a:latin typeface="Segoe UI"/>
              </a:rPr>
              <a:t>Pressing Analyst · TwelveGPT Educational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0" y="6525768"/>
            <a:ext cx="518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C6476"/>
                </a:solidFill>
                <a:latin typeface="Segoe UI"/>
              </a:rPr>
              <a:t>6 / 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10363200" cy="1904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500">
                <a:solidFill>
                  <a:srgbClr val="F4F5F7"/>
                </a:solidFill>
                <a:latin typeface="Segoe UI"/>
              </a:rPr>
              <a:t>Chat keeps reusing the same synthesised summary for the selected team.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500">
                <a:solidFill>
                  <a:srgbClr val="F4F5F7"/>
                </a:solidFill>
                <a:latin typeface="Segoe UI"/>
              </a:rPr>
              <a:t>We also run an embedding search and append the top five Q&amp;A rows so answers stay consistent yet relevant to the user’s question.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69400"/>
            <a:ext cx="103632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B95A8"/>
                </a:solidFill>
                <a:latin typeface="Segoe UI"/>
              </a:rPr>
              <a:t>Code (example) from the repo: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062008"/>
            <a:ext cx="10363200" cy="1942552"/>
          </a:xfrm>
          <a:prstGeom prst="roundRect">
            <a:avLst>
              <a:gd name="adj" fmla="val 4000"/>
            </a:avLst>
          </a:prstGeom>
          <a:solidFill>
            <a:srgbClr val="121624"/>
          </a:solidFill>
          <a:ln w="6350">
            <a:solidFill>
              <a:srgbClr val="2D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4263176"/>
            <a:ext cx="9960864" cy="154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# classes/chat.py — PressingChat.get_relevant_info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description = PressingDescription(self.team)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ret_val += description.synthesize_text()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results = self.embeddings.search(query, top_n=5)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# … assistant lines from search are appended (top_n=5)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F56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77240"/>
            <a:ext cx="10363200" cy="10972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5C6476"/>
                </a:solidFill>
                <a:latin typeface="Segoe UI"/>
              </a:rPr>
              <a:t>7 · Summary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F4F5F7"/>
                </a:solidFill>
                <a:latin typeface="Segoe UI"/>
              </a:rPr>
              <a:t>What the stack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6461760"/>
            <a:ext cx="10363200" cy="9144"/>
          </a:xfrm>
          <a:prstGeom prst="rect">
            <a:avLst/>
          </a:prstGeom>
          <a:solidFill>
            <a:srgbClr val="2D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525768"/>
            <a:ext cx="518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C6476"/>
                </a:solidFill>
                <a:latin typeface="Segoe UI"/>
              </a:rPr>
              <a:t>Pressing Analyst · TwelveGPT Educational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0" y="6525768"/>
            <a:ext cx="518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C6476"/>
                </a:solidFill>
                <a:latin typeface="Segoe UI"/>
              </a:rPr>
              <a:t>7 / 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10363200" cy="2152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500">
                <a:solidFill>
                  <a:srgbClr val="F4F5F7"/>
                </a:solidFill>
                <a:latin typeface="Segoe UI"/>
              </a:rPr>
              <a:t>The whole point is to turn dense metrics into clear, coach-ready language.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500">
                <a:solidFill>
                  <a:srgbClr val="F4F5F7"/>
                </a:solidFill>
                <a:latin typeface="Segoe UI"/>
              </a:rPr>
              <a:t>That takes normalised data, carefully ordered prompts, and a small, controlled model call—same temperature for the opening brief and for chat.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17751"/>
            <a:ext cx="103632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B95A8"/>
                </a:solidFill>
                <a:latin typeface="Segoe UI"/>
              </a:rPr>
              <a:t>Code (example) from the repo: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310359"/>
            <a:ext cx="10363200" cy="1694201"/>
          </a:xfrm>
          <a:prstGeom prst="roundRect">
            <a:avLst>
              <a:gd name="adj" fmla="val 4000"/>
            </a:avLst>
          </a:prstGeom>
          <a:solidFill>
            <a:srgbClr val="121624"/>
          </a:solidFill>
          <a:ln w="6350">
            <a:solidFill>
              <a:srgbClr val="2D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4511527"/>
            <a:ext cx="9960864" cy="1291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000">
                <a:solidFill>
                  <a:srgbClr val="C5D0E0"/>
                </a:solidFill>
                <a:latin typeface="Consolas"/>
              </a:rPr>
              <a:t># pressing_analyst.py — low temperature, repeatable briefing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000">
                <a:solidFill>
                  <a:srgbClr val="C5D0E0"/>
                </a:solidFill>
                <a:latin typeface="Consolas"/>
              </a:rPr>
              <a:t>description.stream_gpt(stream=True, temperature=0.3)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F56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77240"/>
            <a:ext cx="10363200" cy="10972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5C6476"/>
                </a:solidFill>
                <a:latin typeface="Segoe UI"/>
              </a:rPr>
              <a:t>8 · Documentation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F4F5F7"/>
                </a:solidFill>
                <a:latin typeface="Segoe UI"/>
              </a:rPr>
              <a:t>Code is the source of truth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6461760"/>
            <a:ext cx="10363200" cy="9144"/>
          </a:xfrm>
          <a:prstGeom prst="rect">
            <a:avLst/>
          </a:prstGeom>
          <a:solidFill>
            <a:srgbClr val="2D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525768"/>
            <a:ext cx="518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C6476"/>
                </a:solidFill>
                <a:latin typeface="Segoe UI"/>
              </a:rPr>
              <a:t>Pressing Analyst · TwelveGPT Educational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0" y="6525768"/>
            <a:ext cx="518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C6476"/>
                </a:solidFill>
                <a:latin typeface="Segoe UI"/>
              </a:rPr>
              <a:t>8 / 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10363200" cy="1986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500">
                <a:solidFill>
                  <a:srgbClr val="F4F5F7"/>
                </a:solidFill>
                <a:latin typeface="Segoe UI"/>
              </a:rPr>
              <a:t>When in doubt, read the prompt strings and consequence tables in the Python module.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500">
                <a:solidFill>
                  <a:srgbClr val="F4F5F7"/>
                </a:solidFill>
                <a:latin typeface="Segoe UI"/>
              </a:rPr>
              <a:t>Markdown notes are helpful context, but shipping behaviour lives in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52184"/>
            <a:ext cx="103632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B95A8"/>
                </a:solidFill>
                <a:latin typeface="Segoe UI"/>
              </a:rPr>
              <a:t>Code (example) from the repo: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144792"/>
            <a:ext cx="10363200" cy="1859768"/>
          </a:xfrm>
          <a:prstGeom prst="roundRect">
            <a:avLst>
              <a:gd name="adj" fmla="val 4000"/>
            </a:avLst>
          </a:prstGeom>
          <a:solidFill>
            <a:srgbClr val="121624"/>
          </a:solidFill>
          <a:ln w="6350">
            <a:solidFill>
              <a:srgbClr val="2D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4345960"/>
            <a:ext cx="9960864" cy="145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900">
                <a:solidFill>
                  <a:srgbClr val="C5D0E0"/>
                </a:solidFill>
                <a:latin typeface="Consolas"/>
              </a:rPr>
              <a:t># classes/description.py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900">
                <a:solidFill>
                  <a:srgbClr val="C5D0E0"/>
                </a:solidFill>
                <a:latin typeface="Consolas"/>
              </a:rPr>
              <a:t># PressingDescription.get_prompt_messages()  — task wording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900">
                <a:solidFill>
                  <a:srgbClr val="C5D0E0"/>
                </a:solidFill>
                <a:latin typeface="Consolas"/>
              </a:rPr>
              <a:t># PressingDescription.METRIC_CONSEQUENCES   — pitch sentences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900">
                <a:solidFill>
                  <a:srgbClr val="C5D0E0"/>
                </a:solidFill>
                <a:latin typeface="Consolas"/>
              </a:rPr>
              <a:t>return [{"role": "user", "content": prompt}]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F56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77240"/>
            <a:ext cx="10363200" cy="10972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5C6476"/>
                </a:solidFill>
                <a:latin typeface="Segoe UI"/>
              </a:rPr>
              <a:t>9 · Sources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F4F5F7"/>
                </a:solidFill>
                <a:latin typeface="Segoe UI"/>
              </a:rPr>
              <a:t>Modular layout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6461760"/>
            <a:ext cx="10363200" cy="9144"/>
          </a:xfrm>
          <a:prstGeom prst="rect">
            <a:avLst/>
          </a:prstGeom>
          <a:solidFill>
            <a:srgbClr val="2D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525768"/>
            <a:ext cx="518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C6476"/>
                </a:solidFill>
                <a:latin typeface="Segoe UI"/>
              </a:rPr>
              <a:t>Pressing Analyst · TwelveGPT Educational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0" y="6525768"/>
            <a:ext cx="518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C6476"/>
                </a:solidFill>
                <a:latin typeface="Segoe UI"/>
              </a:rPr>
              <a:t>9 / 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10363200" cy="173845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500">
                <a:solidFill>
                  <a:srgbClr val="F4F5F7"/>
                </a:solidFill>
                <a:latin typeface="Segoe UI"/>
              </a:rPr>
              <a:t>The repo splits responsibilities cleanly across small modules.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500">
                <a:solidFill>
                  <a:srgbClr val="F4F5F7"/>
                </a:solidFill>
                <a:latin typeface="Segoe UI"/>
              </a:rPr>
              <a:t>Data loading, copy generation, chat, and embeddings each live in their own files.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03833"/>
            <a:ext cx="103632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B95A8"/>
                </a:solidFill>
                <a:latin typeface="Segoe UI"/>
              </a:rPr>
              <a:t>Code (example) from the repo: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896441"/>
            <a:ext cx="10363200" cy="2108119"/>
          </a:xfrm>
          <a:prstGeom prst="roundRect">
            <a:avLst>
              <a:gd name="adj" fmla="val 4000"/>
            </a:avLst>
          </a:prstGeom>
          <a:solidFill>
            <a:srgbClr val="121624"/>
          </a:solidFill>
          <a:ln w="6350">
            <a:solidFill>
              <a:srgbClr val="2D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4097609"/>
            <a:ext cx="9960864" cy="17057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pages/pressing_analyst.py          # Streamlit page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classes/description.py           # PressingDescription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classes/chat.py                  # PressingChat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classes/data_source.py           # PressingStats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classes/embeddings.py            # PressingEmbeddings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data/describe/Pressing_analyst.csv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>
                <a:solidFill>
                  <a:srgbClr val="C5D0E0"/>
                </a:solidFill>
                <a:latin typeface="Consolas"/>
              </a:rPr>
              <a:t>data/gpt_examples/Pressing_analyst.csv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F56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36320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F4F5F7"/>
                </a:solidFill>
                <a:latin typeface="Segoe UI"/>
              </a:rPr>
              <a:t>Thank you</a:t>
            </a:r>
          </a:p>
          <a:p>
            <a:pPr algn="ctr">
              <a:spcBef>
                <a:spcPts val="1800"/>
              </a:spcBef>
            </a:pPr>
            <a:r>
              <a:rPr sz="1800">
                <a:solidFill>
                  <a:srgbClr val="9AA3B4"/>
                </a:solidFill>
                <a:latin typeface="Segoe UI"/>
              </a:rPr>
              <a:t>Thanks for listening.
Happy to take questions.</a:t>
            </a:r>
          </a:p>
          <a:p>
            <a:pPr algn="ctr">
              <a:spcBef>
                <a:spcPts val="2200"/>
              </a:spcBef>
            </a:pPr>
            <a:r>
              <a:rPr sz="1400">
                <a:solidFill>
                  <a:srgbClr val="5C6476"/>
                </a:solidFill>
                <a:latin typeface="Segoe UI"/>
              </a:rPr>
              <a:t>github.com/soccermatics/twelve-gpt-educational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6461760"/>
            <a:ext cx="10363200" cy="9144"/>
          </a:xfrm>
          <a:prstGeom prst="rect">
            <a:avLst/>
          </a:prstGeom>
          <a:solidFill>
            <a:srgbClr val="2D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525768"/>
            <a:ext cx="518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C6476"/>
                </a:solidFill>
                <a:latin typeface="Segoe UI"/>
              </a:rPr>
              <a:t>Pressing Analyst · TwelveGPT Educational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0" y="6525768"/>
            <a:ext cx="518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C6476"/>
                </a:solidFill>
                <a:latin typeface="Segoe UI"/>
              </a:rPr>
              <a:t>10 / 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
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011680"/>
            <a:ext cx="11277295" cy="1097280"/>
          </a:xfrm>
          <a:prstGeom prst="rect">
            <a:avLst/>
          </a:prstGeom>
          <a:noFill/>
        </p:spPr>
        <p:txBody>
          <a:bodyPr wrap="square">
            <a:spAutoFit/>
          </a:bodyPr>
          <a:lstStyle/>
          <a:p>
            <a:pPr algn="ctr">
              <a:defRPr sz="4000" b="1">
                <a:solidFill>
                  <a:srgbClr val="FFFFFF"/>
                </a:solidFill>
                <a:latin typeface="Calibri"/>
              </a:defRPr>
            </a:pPr>
            <a:r>
              <a:t>Context Engineering</a:t>
            </a:r>
            <a:br/>
            <a:r>
              <a:t>Pressing Analyst</a:t>
            </a:r>
          </a:p>
        </p:txBody>
      </p:sp>
      <p:sp>
        <p:nvSpPr>
          <p:cNvPr id="3" name="TextBox 2"/>
          <p:cNvSpPr txBox="1"/>
          <p:nvPr/>
        </p:nvSpPr>
        <p:spPr>
          <a:xfrm>
            <a:off x="457200" y="3657600"/>
            <a:ext cx="11277295" cy="457200"/>
          </a:xfrm>
          <a:prstGeom prst="rect">
            <a:avLst/>
          </a:prstGeom>
          <a:noFill/>
        </p:spPr>
        <p:txBody>
          <a:bodyPr wrap="square">
            <a:spAutoFit/>
          </a:bodyPr>
          <a:lstStyle/>
          <a:p>
            <a:pPr algn="ctr">
              <a:defRPr sz="1600" b="0">
                <a:solidFill>
                  <a:srgbClr val="AAAAAA"/>
                </a:solidFill>
                <a:latin typeface="Calibri"/>
              </a:defRPr>
            </a:pPr>
            <a:r>
              <a:t>Kaan Güler  ·  Hugo Vicente  ·  Sara Bentelli</a:t>
            </a:r>
          </a:p>
        </p:txBody>
      </p:sp>
      <p:sp>
        <p:nvSpPr>
          <p:cNvPr id="4" name="TextBox 3"/>
          <p:cNvSpPr txBox="1"/>
          <p:nvPr/>
        </p:nvSpPr>
        <p:spPr>
          <a:xfrm>
            <a:off x="457200" y="4572000"/>
            <a:ext cx="11277295" cy="365760"/>
          </a:xfrm>
          <a:prstGeom prst="rect">
            <a:avLst/>
          </a:prstGeom>
          <a:noFill/>
        </p:spPr>
        <p:txBody>
          <a:bodyPr wrap="square">
            <a:spAutoFit/>
          </a:bodyPr>
          <a:lstStyle/>
          <a:p>
            <a:pPr algn="ctr">
              <a:defRPr sz="1400" b="0">
                <a:solidFill>
                  <a:srgbClr val="009940"/>
                </a:solidFill>
                <a:latin typeface="Calibri"/>
              </a:defRPr>
            </a:pPr>
            <a:r>
              <a:t>TwelveGPT Educational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Start with Football</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800" b="0">
                <a:solidFill>
                  <a:srgbClr val="00C878"/>
                </a:solidFill>
                <a:latin typeface="Calibri"/>
              </a:defRPr>
            </a:pPr>
            <a:r>
              <a:t>What do we want to measure?</a:t>
            </a:r>
          </a:p>
        </p:txBody>
      </p:sp>
      <p:sp>
        <p:nvSpPr>
          <p:cNvPr id="4" name="TextBox 3"/>
          <p:cNvSpPr txBox="1"/>
          <p:nvPr/>
        </p:nvSpPr>
        <p:spPr>
          <a:xfrm>
            <a:off x="731520" y="1463040"/>
            <a:ext cx="10058400" cy="4572000"/>
          </a:xfrm>
          <a:prstGeom prst="rect">
            <a:avLst/>
          </a:prstGeom>
          <a:noFill/>
        </p:spPr>
        <p:txBody>
          <a:bodyPr wrap="square">
            <a:spAutoFit/>
          </a:bodyPr>
          <a:lstStyle/>
          <a:p>
            <a:pPr algn="l">
              <a:spcAft>
                <a:spcPts val="1200"/>
              </a:spcAft>
            </a:pPr>
            <a:r>
              <a:rPr sz="1500" b="0">
                <a:solidFill>
                  <a:srgbClr val="FFFFFF"/>
                </a:solidFill>
                <a:latin typeface="Calibri"/>
              </a:rPr>
              <a:t>•  How aggressively does the team press in the opponent's half?</a:t>
            </a:r>
          </a:p>
          <a:p>
            <a:pPr algn="l">
              <a:spcAft>
                <a:spcPts val="1200"/>
              </a:spcAft>
            </a:pPr>
            <a:r>
              <a:rPr sz="1500" b="0">
                <a:solidFill>
                  <a:srgbClr val="FFFFFF"/>
                </a:solidFill>
                <a:latin typeface="Calibri"/>
              </a:rPr>
              <a:t>•  Do they force the opponent into long, risky passes?</a:t>
            </a:r>
          </a:p>
          <a:p>
            <a:pPr algn="l">
              <a:spcAft>
                <a:spcPts val="1200"/>
              </a:spcAft>
            </a:pPr>
            <a:r>
              <a:rPr sz="1500" b="0">
                <a:solidFill>
                  <a:srgbClr val="FFFFFF"/>
                </a:solidFill>
                <a:latin typeface="Calibri"/>
              </a:rPr>
              <a:t>•  How often do they win the ball back through pressing?</a:t>
            </a:r>
          </a:p>
          <a:p>
            <a:pPr algn="l">
              <a:spcAft>
                <a:spcPts val="1200"/>
              </a:spcAft>
            </a:pPr>
            <a:r>
              <a:rPr sz="1500" b="0">
                <a:solidFill>
                  <a:srgbClr val="FFFFFF"/>
                </a:solidFill>
                <a:latin typeface="Calibri"/>
              </a:rPr>
              <a:t>•  How often does the opponent escape the press?</a:t>
            </a:r>
          </a:p>
          <a:p>
            <a:pPr algn="l">
              <a:spcAft>
                <a:spcPts val="1200"/>
              </a:spcAft>
            </a:pPr>
            <a:r>
              <a:rPr sz="1500" b="0">
                <a:solidFill>
                  <a:srgbClr val="FFFFFF"/>
                </a:solidFill>
                <a:latin typeface="Calibri"/>
              </a:rPr>
              <a:t>•  What happens when the press is broken — does it lead to goals against?</a:t>
            </a:r>
          </a:p>
          <a:p>
            <a:pPr algn="l">
              <a:spcAft>
                <a:spcPts val="1200"/>
              </a:spcAft>
            </a:pPr>
            <a:r>
              <a:rPr sz="1500" b="0">
                <a:solidFill>
                  <a:srgbClr val="FFFFFF"/>
                </a:solidFill>
                <a:latin typeface="Calibri"/>
              </a:rPr>
              <a:t>•  Can the opponent still pass cleanly or break lines under pressure?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Start with Football</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800" b="0">
                <a:solidFill>
                  <a:srgbClr val="00C878"/>
                </a:solidFill>
                <a:latin typeface="Calibri"/>
              </a:defRPr>
            </a:pPr>
            <a:r>
              <a:t>Is our pressing a wall or a gamble?</a:t>
            </a:r>
          </a:p>
        </p:txBody>
      </p:sp>
      <p:sp>
        <p:nvSpPr>
          <p:cNvPr id="4" name="TextBox 3"/>
          <p:cNvSpPr txBox="1"/>
          <p:nvPr/>
        </p:nvSpPr>
        <p:spPr>
          <a:xfrm>
            <a:off x="731520" y="1554480"/>
            <a:ext cx="10058400" cy="1371600"/>
          </a:xfrm>
          <a:prstGeom prst="rect">
            <a:avLst/>
          </a:prstGeom>
          <a:noFill/>
        </p:spPr>
        <p:txBody>
          <a:bodyPr wrap="square">
            <a:spAutoFit/>
          </a:bodyPr>
          <a:lstStyle/>
          <a:p>
            <a:pPr algn="l">
              <a:defRPr sz="1500" b="0">
                <a:solidFill>
                  <a:srgbClr val="FFFFFF"/>
                </a:solidFill>
                <a:latin typeface="Calibri"/>
              </a:defRPr>
            </a:pPr>
            <a:r>
              <a:t>A strong press should do more than apply pressure. It should disrupt build-up, force rushed decisions, and win the ball high without leaving the team exposed.</a:t>
            </a:r>
            <a:br/>
            <a:br/>
            <a:r>
              <a:t>This project evaluates that balance by measuring both the benefits of pressing and the risks when opponents escape it.</a:t>
            </a:r>
          </a:p>
        </p:txBody>
      </p:sp>
      <p:sp>
        <p:nvSpPr>
          <p:cNvPr id="5" name="TextBox 4"/>
          <p:cNvSpPr txBox="1"/>
          <p:nvPr/>
        </p:nvSpPr>
        <p:spPr>
          <a:xfrm>
            <a:off x="731520" y="3474720"/>
            <a:ext cx="10058400" cy="3200400"/>
          </a:xfrm>
          <a:prstGeom prst="rect">
            <a:avLst/>
          </a:prstGeom>
          <a:noFill/>
        </p:spPr>
        <p:txBody>
          <a:bodyPr wrap="square">
            <a:spAutoFit/>
          </a:bodyPr>
          <a:lstStyle/>
          <a:p>
            <a:pPr algn="l">
              <a:spcAft>
                <a:spcPts val="600"/>
              </a:spcAft>
            </a:pPr>
            <a:r>
              <a:rPr sz="2000" b="1">
                <a:solidFill>
                  <a:srgbClr val="00C878"/>
                </a:solidFill>
                <a:latin typeface="Calibri"/>
              </a:rPr>
              <a:t>Wall</a:t>
            </a:r>
          </a:p>
          <a:p>
            <a:pPr algn="l">
              <a:spcAft>
                <a:spcPts val="600"/>
              </a:spcAft>
            </a:pPr>
            <a:r>
              <a:rPr sz="1300" b="0">
                <a:solidFill>
                  <a:srgbClr val="FFFFFF"/>
                </a:solidFill>
                <a:latin typeface="Calibri"/>
              </a:rPr>
              <a:t>Disrupts build-up, wins the ball high,</a:t>
            </a:r>
          </a:p>
          <a:p>
            <a:pPr algn="l">
              <a:spcAft>
                <a:spcPts val="600"/>
              </a:spcAft>
            </a:pPr>
            <a:r>
              <a:rPr sz="1300" b="0">
                <a:solidFill>
                  <a:srgbClr val="FFFFFF"/>
                </a:solidFill>
                <a:latin typeface="Calibri"/>
              </a:rPr>
              <a:t>and protects the rest-defence.</a:t>
            </a:r>
          </a:p>
          <a:p>
            <a:pPr algn="l">
              <a:spcAft>
                <a:spcPts val="600"/>
              </a:spcAft>
            </a:pPr>
            <a:r>
              <a:rPr sz="1000" b="0">
                <a:solidFill>
                  <a:srgbClr val="FFFFFF"/>
                </a:solidFill>
                <a:latin typeface="Calibri"/>
              </a:rPr>
              <a:t/>
            </a:r>
          </a:p>
          <a:p>
            <a:pPr algn="l">
              <a:spcAft>
                <a:spcPts val="600"/>
              </a:spcAft>
            </a:pPr>
            <a:r>
              <a:rPr sz="2000" b="1">
                <a:solidFill>
                  <a:srgbClr val="FF6464"/>
                </a:solidFill>
                <a:latin typeface="Calibri"/>
              </a:rPr>
              <a:t>Gamble</a:t>
            </a:r>
          </a:p>
          <a:p>
            <a:pPr algn="l">
              <a:spcAft>
                <a:spcPts val="600"/>
              </a:spcAft>
            </a:pPr>
            <a:r>
              <a:rPr sz="1300" b="0">
                <a:solidFill>
                  <a:srgbClr val="FFFFFF"/>
                </a:solidFill>
                <a:latin typeface="Calibri"/>
              </a:rPr>
              <a:t>Presses high but gets broken often,</a:t>
            </a:r>
          </a:p>
          <a:p>
            <a:pPr algn="l">
              <a:spcAft>
                <a:spcPts val="600"/>
              </a:spcAft>
            </a:pPr>
            <a:r>
              <a:rPr sz="1300" b="0">
                <a:solidFill>
                  <a:srgbClr val="FFFFFF"/>
                </a:solidFill>
                <a:latin typeface="Calibri"/>
              </a:rPr>
              <a:t>and concedes when opponents escape.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Data to Text</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400" b="0">
                <a:solidFill>
                  <a:srgbClr val="00C878"/>
                </a:solidFill>
                <a:latin typeface="Calibri"/>
              </a:defRPr>
            </a:pPr>
            <a:r>
              <a:t>Each metric is converted via: Raw Value → Z-Score → Consequence Sentence</a:t>
            </a:r>
          </a:p>
        </p:txBody>
      </p:sp>
      <p:sp>
        <p:nvSpPr>
          <p:cNvPr id="4" name="TextBox 3"/>
          <p:cNvSpPr txBox="1"/>
          <p:nvPr/>
        </p:nvSpPr>
        <p:spPr>
          <a:xfrm>
            <a:off x="548640" y="1463040"/>
            <a:ext cx="10972800" cy="3200400"/>
          </a:xfrm>
          <a:prstGeom prst="rect">
            <a:avLst/>
          </a:prstGeom>
          <a:noFill/>
        </p:spPr>
        <p:txBody>
          <a:bodyPr wrap="square">
            <a:spAutoFit/>
          </a:bodyPr>
          <a:lstStyle/>
          <a:p>
            <a:pPr algn="l">
              <a:spcAft>
                <a:spcPts val="800"/>
              </a:spcAft>
            </a:pPr>
            <a:r>
              <a:rPr sz="1200" b="1">
                <a:solidFill>
                  <a:srgbClr val="00C878"/>
                </a:solidFill>
                <a:latin typeface="Calibri"/>
              </a:rPr>
              <a:t>Z Range</a:t>
            </a:r>
            <a:r>
              <a:rPr sz="1200" b="1">
                <a:solidFill>
                  <a:srgbClr val="00C878"/>
                </a:solidFill>
                <a:latin typeface="Calibri"/>
              </a:rPr>
              <a:t>          Level</a:t>
            </a:r>
            <a:r>
              <a:rPr sz="1200" b="1">
                <a:solidFill>
                  <a:srgbClr val="00C878"/>
                </a:solidFill>
                <a:latin typeface="Calibri"/>
              </a:rPr>
              <a:t>              Example Consequence</a:t>
            </a:r>
          </a:p>
          <a:p>
            <a:pPr algn="l">
              <a:spcAft>
                <a:spcPts val="800"/>
              </a:spcAft>
            </a:pPr>
            <a:r>
              <a:rPr sz="1200" b="0">
                <a:solidFill>
                  <a:srgbClr val="AAAAAA"/>
                </a:solidFill>
                <a:latin typeface="Calibri"/>
              </a:rPr>
              <a:t>z ≥ 1.5             </a:t>
            </a:r>
            <a:r>
              <a:rPr sz="1200" b="1">
                <a:solidFill>
                  <a:srgbClr val="FFFFFF"/>
                </a:solidFill>
                <a:latin typeface="Calibri"/>
              </a:rPr>
              <a:t>  Outstanding   </a:t>
            </a:r>
            <a:r>
              <a:rPr sz="1200" b="0">
                <a:solidFill>
                  <a:srgbClr val="FFFFFF"/>
                </a:solidFill>
                <a:latin typeface="Calibri"/>
              </a:rPr>
              <a:t>  ...far more than any other side.</a:t>
            </a:r>
          </a:p>
          <a:p>
            <a:pPr algn="l">
              <a:spcAft>
                <a:spcPts val="800"/>
              </a:spcAft>
            </a:pPr>
            <a:r>
              <a:rPr sz="1200" b="0">
                <a:solidFill>
                  <a:srgbClr val="AAAAAA"/>
                </a:solidFill>
                <a:latin typeface="Calibri"/>
              </a:rPr>
              <a:t>1.0 ≤ z &lt; 1.5       </a:t>
            </a:r>
            <a:r>
              <a:rPr sz="1200" b="1">
                <a:solidFill>
                  <a:srgbClr val="FFFFFF"/>
                </a:solidFill>
                <a:latin typeface="Calibri"/>
              </a:rPr>
              <a:t>  Excellent     </a:t>
            </a:r>
            <a:r>
              <a:rPr sz="1200" b="0">
                <a:solidFill>
                  <a:srgbClr val="FFFFFF"/>
                </a:solidFill>
                <a:latin typeface="Calibri"/>
              </a:rPr>
              <a:t>  ...significantly more often than most.</a:t>
            </a:r>
          </a:p>
          <a:p>
            <a:pPr algn="l">
              <a:spcAft>
                <a:spcPts val="800"/>
              </a:spcAft>
            </a:pPr>
            <a:r>
              <a:rPr sz="1200" b="0">
                <a:solidFill>
                  <a:srgbClr val="AAAAAA"/>
                </a:solidFill>
                <a:latin typeface="Calibri"/>
              </a:rPr>
              <a:t>0.5 ≤ z &lt; 1.0       </a:t>
            </a:r>
            <a:r>
              <a:rPr sz="1200" b="1">
                <a:solidFill>
                  <a:srgbClr val="FFFFFF"/>
                </a:solidFill>
                <a:latin typeface="Calibri"/>
              </a:rPr>
              <a:t>  Good          </a:t>
            </a:r>
            <a:r>
              <a:rPr sz="1200" b="0">
                <a:solidFill>
                  <a:srgbClr val="FFFFFF"/>
                </a:solidFill>
                <a:latin typeface="Calibri"/>
              </a:rPr>
              <a:t>  ...more often than average.</a:t>
            </a:r>
          </a:p>
          <a:p>
            <a:pPr algn="l">
              <a:spcAft>
                <a:spcPts val="800"/>
              </a:spcAft>
            </a:pPr>
            <a:r>
              <a:rPr sz="1200" b="0">
                <a:solidFill>
                  <a:srgbClr val="AAAAAA"/>
                </a:solidFill>
                <a:latin typeface="Calibri"/>
              </a:rPr>
              <a:t>-0.5 ≤ z &lt; 0.5      </a:t>
            </a:r>
            <a:r>
              <a:rPr sz="1200" b="1">
                <a:solidFill>
                  <a:srgbClr val="FFFFFF"/>
                </a:solidFill>
                <a:latin typeface="Calibri"/>
              </a:rPr>
              <a:t>  Average       </a:t>
            </a:r>
            <a:r>
              <a:rPr sz="1200" b="0">
                <a:solidFill>
                  <a:srgbClr val="FFFFFF"/>
                </a:solidFill>
                <a:latin typeface="Calibri"/>
              </a:rPr>
              <a:t>  ...at a typical rate.</a:t>
            </a:r>
          </a:p>
          <a:p>
            <a:pPr algn="l">
              <a:spcAft>
                <a:spcPts val="800"/>
              </a:spcAft>
            </a:pPr>
            <a:r>
              <a:rPr sz="1200" b="0">
                <a:solidFill>
                  <a:srgbClr val="AAAAAA"/>
                </a:solidFill>
                <a:latin typeface="Calibri"/>
              </a:rPr>
              <a:t>-1.0 ≤ z &lt; -0.5     </a:t>
            </a:r>
            <a:r>
              <a:rPr sz="1200" b="1">
                <a:solidFill>
                  <a:srgbClr val="FFFFFF"/>
                </a:solidFill>
                <a:latin typeface="Calibri"/>
              </a:rPr>
              <a:t>  Below Avg     </a:t>
            </a:r>
            <a:r>
              <a:rPr sz="1200" b="0">
                <a:solidFill>
                  <a:srgbClr val="FFFFFF"/>
                </a:solidFill>
                <a:latin typeface="Calibri"/>
              </a:rPr>
              <a:t>  ...less often than most.</a:t>
            </a:r>
          </a:p>
          <a:p>
            <a:pPr algn="l">
              <a:spcAft>
                <a:spcPts val="800"/>
              </a:spcAft>
            </a:pPr>
            <a:r>
              <a:rPr sz="1200" b="0">
                <a:solidFill>
                  <a:srgbClr val="AAAAAA"/>
                </a:solidFill>
                <a:latin typeface="Calibri"/>
              </a:rPr>
              <a:t>z &lt; -1.0            </a:t>
            </a:r>
            <a:r>
              <a:rPr sz="1200" b="1">
                <a:solidFill>
                  <a:srgbClr val="FFFFFF"/>
                </a:solidFill>
                <a:latin typeface="Calibri"/>
              </a:rPr>
              <a:t>  Poor          </a:t>
            </a:r>
            <a:r>
              <a:rPr sz="1200" b="0">
                <a:solidFill>
                  <a:srgbClr val="FFFFFF"/>
                </a:solidFill>
                <a:latin typeface="Calibri"/>
              </a:rPr>
              <a:t>  ...rarely / the press does little.</a:t>
            </a:r>
          </a:p>
        </p:txBody>
      </p:sp>
      <p:sp>
        <p:nvSpPr>
          <p:cNvPr id="5" name="TextBox 4"/>
          <p:cNvSpPr txBox="1"/>
          <p:nvPr/>
        </p:nvSpPr>
        <p:spPr>
          <a:xfrm>
            <a:off x="548640" y="4389120"/>
            <a:ext cx="10972800" cy="2286000"/>
          </a:xfrm>
          <a:prstGeom prst="rect">
            <a:avLst/>
          </a:prstGeom>
          <a:noFill/>
        </p:spPr>
        <p:txBody>
          <a:bodyPr wrap="square">
            <a:spAutoFit/>
          </a:bodyPr>
          <a:lstStyle/>
          <a:p>
            <a:pPr algn="l">
              <a:spcAft>
                <a:spcPts val="600"/>
              </a:spcAft>
            </a:pPr>
            <a:r>
              <a:rPr sz="1300" b="1">
                <a:solidFill>
                  <a:srgbClr val="00C878"/>
                </a:solidFill>
                <a:latin typeface="Calibri"/>
              </a:rPr>
              <a:t>Key insight: </a:t>
            </a:r>
            <a:r>
              <a:rPr sz="1300" b="0">
                <a:solidFill>
                  <a:srgbClr val="FFFFFF"/>
                </a:solidFill>
                <a:latin typeface="Calibri"/>
              </a:rPr>
              <a:t>8 metrics × 6 levels = 48 pre-written consequence sentences.</a:t>
            </a:r>
          </a:p>
          <a:p>
            <a:pPr algn="l">
              <a:spcAft>
                <a:spcPts val="600"/>
              </a:spcAft>
            </a:pPr>
            <a:r>
              <a:rPr sz="1300" b="0">
                <a:solidFill>
                  <a:srgbClr val="FFFFFF"/>
                </a:solidFill>
                <a:latin typeface="Calibri"/>
              </a:rPr>
              <a:t>The LLM never interprets z-scores — it reads plain football language.</a:t>
            </a:r>
          </a:p>
          <a:p>
            <a:pPr algn="l">
              <a:spcAft>
                <a:spcPts val="600"/>
              </a:spcAft>
            </a:pPr>
            <a:r>
              <a:rPr sz="800" b="0">
                <a:solidFill>
                  <a:srgbClr val="FFFFFF"/>
                </a:solidFill>
                <a:latin typeface="Calibri"/>
              </a:rPr>
              <a:t/>
            </a:r>
          </a:p>
          <a:p>
            <a:pPr algn="l">
              <a:spcAft>
                <a:spcPts val="600"/>
              </a:spcAft>
            </a:pPr>
            <a:r>
              <a:rPr sz="1200" b="1">
                <a:solidFill>
                  <a:srgbClr val="00C878"/>
                </a:solidFill>
                <a:latin typeface="Calibri"/>
              </a:rPr>
              <a:t>Asymmetric thresholds: </a:t>
            </a:r>
            <a:r>
              <a:rPr sz="1200" b="0">
                <a:solidFill>
                  <a:srgbClr val="AAAAAA"/>
                </a:solidFill>
                <a:latin typeface="Calibri"/>
              </a:rPr>
              <a:t>Strengths require z &gt; 1.0, concerns surface at z &lt; -0.5.</a:t>
            </a:r>
          </a:p>
          <a:p>
            <a:pPr algn="l">
              <a:spcAft>
                <a:spcPts val="600"/>
              </a:spcAft>
            </a:pPr>
            <a:r>
              <a:rPr sz="1200" b="0">
                <a:solidFill>
                  <a:srgbClr val="AAAAAA"/>
                </a:solidFill>
                <a:latin typeface="Calibri"/>
              </a:rPr>
              <a:t>Weaknesses are flagged earlier than strengths — a deliberate design choice.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Pipeline Overview</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400" b="0">
                <a:solidFill>
                  <a:srgbClr val="00C878"/>
                </a:solidFill>
                <a:latin typeface="Calibri"/>
              </a:defRPr>
            </a:pPr>
            <a:r>
              <a:t>How data flows from CSV to coaching briefing</a:t>
            </a:r>
          </a:p>
        </p:txBody>
      </p:sp>
      <p:sp>
        <p:nvSpPr>
          <p:cNvPr id="4" name="TextBox 3"/>
          <p:cNvSpPr txBox="1"/>
          <p:nvPr/>
        </p:nvSpPr>
        <p:spPr>
          <a:xfrm>
            <a:off x="548640" y="1463040"/>
            <a:ext cx="10972800" cy="5029200"/>
          </a:xfrm>
          <a:prstGeom prst="rect">
            <a:avLst/>
          </a:prstGeom>
          <a:noFill/>
        </p:spPr>
        <p:txBody>
          <a:bodyPr wrap="square">
            <a:spAutoFit/>
          </a:bodyPr>
          <a:lstStyle/>
          <a:p>
            <a:pPr algn="l">
              <a:spcAft>
                <a:spcPts val="400"/>
              </a:spcAft>
            </a:pPr>
            <a:r>
              <a:rPr sz="1400" b="1">
                <a:solidFill>
                  <a:srgbClr val="00C878"/>
                </a:solidFill>
                <a:latin typeface="Calibri"/>
              </a:rPr>
              <a:t>① CSV</a:t>
            </a:r>
            <a:r>
              <a:rPr sz="1300" b="0">
                <a:solidFill>
                  <a:srgbClr val="FFFFFF"/>
                </a:solidFill>
                <a:latin typeface="Calibri"/>
              </a:rPr>
              <a:t>  →  pressing_detailed_metrics.csv (20 teams × 8 metrics)</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② Z-Score</a:t>
            </a:r>
            <a:r>
              <a:rPr sz="1300" b="0">
                <a:solidFill>
                  <a:srgbClr val="FFFFFF"/>
                </a:solidFill>
                <a:latin typeface="Calibri"/>
              </a:rPr>
              <a:t>  →  PressingStats.calculate_statistics() — z-scores + ranks per metric</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③ Synthesize</a:t>
            </a:r>
            <a:r>
              <a:rPr sz="1300" b="0">
                <a:solidFill>
                  <a:srgbClr val="FFFFFF"/>
                </a:solidFill>
                <a:latin typeface="Calibri"/>
              </a:rPr>
              <a:t>  →  PressingDescription.synthesize_text() groups into Strengths / Neutral / Weaknesses</a:t>
            </a:r>
          </a:p>
          <a:p>
            <a:pPr algn="l">
              <a:spcAft>
                <a:spcPts val="400"/>
              </a:spcAft>
            </a:pPr>
            <a:r>
              <a:rPr sz="1200" b="0">
                <a:solidFill>
                  <a:srgbClr val="FFFFFF"/>
                </a:solidFill>
                <a:latin typeface="Calibri"/>
              </a:rPr>
              <a:t>     </a:t>
            </a:r>
            <a:r>
              <a:rPr sz="1200" b="0">
                <a:solidFill>
                  <a:srgbClr val="AAAAAA"/>
                </a:solidFill>
                <a:latin typeface="Calibri"/>
              </a:rPr>
              <a:t>Each metric line: Label — Value — Rank. Consequence sentence.</a:t>
            </a:r>
          </a:p>
          <a:p>
            <a:pPr algn="l">
              <a:spcAft>
                <a:spcPts val="400"/>
              </a:spcAft>
            </a:pPr>
            <a:r>
              <a:rPr sz="1200" b="0">
                <a:solidFill>
                  <a:srgbClr val="FFFFFF"/>
                </a:solidFill>
                <a:latin typeface="Calibri"/>
              </a:rPr>
              <a:t>     </a:t>
            </a:r>
            <a:r>
              <a:rPr sz="1200" b="0">
                <a:solidFill>
                  <a:srgbClr val="AAAAAA"/>
                </a:solidFill>
                <a:latin typeface="Calibri"/>
              </a:rPr>
              <a:t>Block % context added from pressing_league_table.csv (separate source).</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④ Prompt</a:t>
            </a:r>
            <a:r>
              <a:rPr sz="1300" b="0">
                <a:solidFill>
                  <a:srgbClr val="FFFFFF"/>
                </a:solidFill>
                <a:latin typeface="Calibri"/>
              </a:rPr>
              <a:t>  →  System role + Q&amp;A pairs + 4-sentence instructions + few-shot examples</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⑤ LLM</a:t>
            </a:r>
            <a:r>
              <a:rPr sz="1300" b="0">
                <a:solidFill>
                  <a:srgbClr val="FFFFFF"/>
                </a:solidFill>
                <a:latin typeface="Calibri"/>
              </a:rPr>
              <a:t>  →  OpenAI Responses API or Gemini — temperature 0.3, streaming</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⑥ Chat</a:t>
            </a:r>
            <a:r>
              <a:rPr sz="1300" b="0">
                <a:solidFill>
                  <a:srgbClr val="FFFFFF"/>
                </a:solidFill>
                <a:latin typeface="Calibri"/>
              </a:rPr>
              <a:t>  →  Multi-turn: synthesized text + embedding RAG (top-5, cosine &gt;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Synthesize</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400" b="0">
                <a:solidFill>
                  <a:srgbClr val="00C878"/>
                </a:solidFill>
                <a:latin typeface="Calibri"/>
              </a:defRPr>
            </a:pPr>
            <a:r>
              <a:t>What the LLM actually receives — Liverpool example</a:t>
            </a:r>
          </a:p>
        </p:txBody>
      </p:sp>
      <p:sp>
        <p:nvSpPr>
          <p:cNvPr id="4" name="TextBox 3"/>
          <p:cNvSpPr txBox="1"/>
          <p:nvPr/>
        </p:nvSpPr>
        <p:spPr>
          <a:xfrm>
            <a:off x="457200" y="1371600"/>
            <a:ext cx="11247120" cy="5303520"/>
          </a:xfrm>
          <a:prstGeom prst="rect">
            <a:avLst/>
          </a:prstGeom>
          <a:noFill/>
        </p:spPr>
        <p:txBody>
          <a:bodyPr wrap="square">
            <a:spAutoFit/>
          </a:bodyPr>
          <a:lstStyle/>
          <a:p>
            <a:pPr algn="l">
              <a:spcAft>
                <a:spcPts val="300"/>
              </a:spcAft>
            </a:pPr>
            <a:r>
              <a:rPr sz="1200" b="0">
                <a:solidFill>
                  <a:srgbClr val="FFFFFF"/>
                </a:solidFill>
                <a:latin typeface="Calibri"/>
              </a:rPr>
              <a:t>Here is a pressing profile of Liverpool compared to other teams in the league.</a:t>
            </a:r>
          </a:p>
          <a:p>
            <a:pPr algn="l">
              <a:spcAft>
                <a:spcPts val="300"/>
              </a:spcAft>
            </a:pPr>
            <a:r>
              <a:rPr sz="1200" b="0">
                <a:solidFill>
                  <a:srgbClr val="AAAAAA"/>
                </a:solidFill>
                <a:latin typeface="Calibri"/>
              </a:rPr>
              <a:t>All ratings are relative to the 20 teams in the league.</a:t>
            </a:r>
          </a:p>
          <a:p>
            <a:pPr algn="l">
              <a:spcAft>
                <a:spcPts val="300"/>
              </a:spcAft>
            </a:pPr>
            <a:r>
              <a:rPr sz="600" b="0">
                <a:solidFill>
                  <a:srgbClr val="FFFFFF"/>
                </a:solidFill>
                <a:latin typeface="Calibri"/>
              </a:rPr>
              <a:t/>
            </a:r>
          </a:p>
          <a:p>
            <a:pPr algn="l">
              <a:spcAft>
                <a:spcPts val="300"/>
              </a:spcAft>
            </a:pPr>
            <a:r>
              <a:rPr sz="1200" b="1">
                <a:solidFill>
                  <a:srgbClr val="00C878"/>
                </a:solidFill>
                <a:latin typeface="Calibri"/>
              </a:rPr>
              <a:t>Strengths:</a:t>
            </a:r>
          </a:p>
          <a:p>
            <a:pPr algn="l">
              <a:spcAft>
                <a:spcPts val="300"/>
              </a:spcAft>
            </a:pPr>
            <a:r>
              <a:rPr sz="1100" b="0">
                <a:solidFill>
                  <a:srgbClr val="FFFFFF"/>
                </a:solidFill>
                <a:latin typeface="Calibri"/>
              </a:rPr>
              <a:t>- Opp. Line-Breaking Pass Rate Under Pressure — 15.58% — ranked 4th of 20. </a:t>
            </a:r>
            <a:r>
              <a:rPr sz="1100" b="0">
                <a:solidFill>
                  <a:srgbClr val="AAAAAA"/>
                </a:solidFill>
                <a:latin typeface="Calibri"/>
              </a:rPr>
              <a:t>Opponents rarely play through the defensive lines under this team's pressure — the pressing structure holds its shape.</a:t>
            </a:r>
          </a:p>
          <a:p>
            <a:pPr algn="l">
              <a:spcAft>
                <a:spcPts val="300"/>
              </a:spcAft>
            </a:pPr>
            <a:r>
              <a:rPr sz="1100" b="0">
                <a:solidFill>
                  <a:srgbClr val="FFFFFF"/>
                </a:solidFill>
                <a:latin typeface="Calibri"/>
              </a:rPr>
              <a:t>- PPDA — 7.90 — ranked 3rd of 20. </a:t>
            </a:r>
            <a:r>
              <a:rPr sz="1100" b="0">
                <a:solidFill>
                  <a:srgbClr val="AAAAAA"/>
                </a:solidFill>
                <a:latin typeface="Calibri"/>
              </a:rPr>
              <a:t>The team steps in early, allowing opponents very few passes before a defensive action.</a:t>
            </a:r>
          </a:p>
          <a:p>
            <a:pPr algn="l">
              <a:spcAft>
                <a:spcPts val="300"/>
              </a:spcAft>
            </a:pPr>
            <a:r>
              <a:rPr sz="400" b="0">
                <a:solidFill>
                  <a:srgbClr val="FFFFFF"/>
                </a:solidFill>
                <a:latin typeface="Calibri"/>
              </a:rPr>
              <a:t/>
            </a:r>
          </a:p>
          <a:p>
            <a:pPr algn="l">
              <a:spcAft>
                <a:spcPts val="300"/>
              </a:spcAft>
            </a:pPr>
            <a:r>
              <a:rPr sz="1200" b="1">
                <a:solidFill>
                  <a:srgbClr val="FFFFFF"/>
                </a:solidFill>
                <a:latin typeface="Calibri"/>
              </a:rPr>
              <a:t>Neutral:</a:t>
            </a:r>
          </a:p>
          <a:p>
            <a:pPr algn="l">
              <a:spcAft>
                <a:spcPts val="300"/>
              </a:spcAft>
            </a:pPr>
            <a:r>
              <a:rPr sz="1100" b="0">
                <a:solidFill>
                  <a:srgbClr val="FFFFFF"/>
                </a:solidFill>
                <a:latin typeface="Calibri"/>
              </a:rPr>
              <a:t>- Pressing Chains Per Match — 19.24 — ranked 13th of 20. </a:t>
            </a:r>
            <a:r>
              <a:rPr sz="1100" b="0">
                <a:solidFill>
                  <a:srgbClr val="AAAAAA"/>
                </a:solidFill>
                <a:latin typeface="Calibri"/>
              </a:rPr>
              <a:t>The team starts pressing sequences in the opposition half at a typical rate.</a:t>
            </a:r>
          </a:p>
          <a:p>
            <a:pPr algn="l">
              <a:spcAft>
                <a:spcPts val="300"/>
              </a:spcAft>
            </a:pPr>
            <a:r>
              <a:rPr sz="1100" b="0">
                <a:solidFill>
                  <a:srgbClr val="FFFFFF"/>
                </a:solidFill>
                <a:latin typeface="Calibri"/>
              </a:rPr>
              <a:t>- Regains In Opp. Half Per Match — 27.87 — ranked 5th of 20. </a:t>
            </a:r>
            <a:r>
              <a:rPr sz="1100" b="0">
                <a:solidFill>
                  <a:srgbClr val="AAAAAA"/>
                </a:solidFill>
                <a:latin typeface="Calibri"/>
              </a:rPr>
              <a:t>The team wins the ball back in the opposition half more often than average.</a:t>
            </a:r>
          </a:p>
          <a:p>
            <a:pPr algn="l">
              <a:spcAft>
                <a:spcPts val="300"/>
              </a:spcAft>
            </a:pPr>
            <a:r>
              <a:rPr sz="1100" b="0">
                <a:solidFill>
                  <a:srgbClr val="FFFFFF"/>
                </a:solidFill>
                <a:latin typeface="Calibri"/>
              </a:rPr>
              <a:t>- Opp. Long Balls Forced Per Match — 8.00 — ranked 11th of 20. </a:t>
            </a:r>
            <a:r>
              <a:rPr sz="1100" b="0">
                <a:solidFill>
                  <a:srgbClr val="AAAAAA"/>
                </a:solidFill>
                <a:latin typeface="Calibri"/>
              </a:rPr>
              <a:t>The press forces opponents into long balls at a typical rate.</a:t>
            </a:r>
          </a:p>
          <a:p>
            <a:pPr algn="l">
              <a:spcAft>
                <a:spcPts val="300"/>
              </a:spcAft>
            </a:pPr>
            <a:r>
              <a:rPr sz="1100" b="0">
                <a:solidFill>
                  <a:srgbClr val="FFFFFF"/>
                </a:solidFill>
                <a:latin typeface="Calibri"/>
              </a:rPr>
              <a:t>- Press Break Rate In Opp. Half — 61.15% — ranked 7th of 20. </a:t>
            </a:r>
            <a:r>
              <a:rPr sz="1100" b="0">
                <a:solidFill>
                  <a:srgbClr val="AAAAAA"/>
                </a:solidFill>
                <a:latin typeface="Calibri"/>
              </a:rPr>
              <a:t>Opponents escape the press in the opposition half less often than against most teams.</a:t>
            </a:r>
          </a:p>
          <a:p>
            <a:pPr algn="l">
              <a:spcAft>
                <a:spcPts val="300"/>
              </a:spcAft>
            </a:pPr>
            <a:r>
              <a:rPr sz="1100" b="0">
                <a:solidFill>
                  <a:srgbClr val="FFFFFF"/>
                </a:solidFill>
                <a:latin typeface="Calibri"/>
              </a:rPr>
              <a:t>- Opp. Pass Accuracy Under Pressure — 88.90% — ranked 6th of 20. </a:t>
            </a:r>
            <a:r>
              <a:rPr sz="1100" b="0">
                <a:solidFill>
                  <a:srgbClr val="AAAAAA"/>
                </a:solidFill>
                <a:latin typeface="Calibri"/>
              </a:rPr>
              <a:t>Opponents find it harder to complete passes under this team's pressure than against most sides.</a:t>
            </a:r>
          </a:p>
          <a:p>
            <a:pPr algn="l">
              <a:spcAft>
                <a:spcPts val="300"/>
              </a:spcAft>
            </a:pPr>
            <a:r>
              <a:rPr sz="400" b="0">
                <a:solidFill>
                  <a:srgbClr val="FFFFFF"/>
                </a:solidFill>
                <a:latin typeface="Calibri"/>
              </a:rPr>
              <a:t/>
            </a:r>
          </a:p>
          <a:p>
            <a:pPr algn="l">
              <a:spcAft>
                <a:spcPts val="300"/>
              </a:spcAft>
            </a:pPr>
            <a:r>
              <a:rPr sz="1200" b="1">
                <a:solidFill>
                  <a:srgbClr val="FF6464"/>
                </a:solidFill>
                <a:latin typeface="Calibri"/>
              </a:rPr>
              <a:t>Weaknesses:</a:t>
            </a:r>
          </a:p>
          <a:p>
            <a:pPr algn="l">
              <a:spcAft>
                <a:spcPts val="300"/>
              </a:spcAft>
            </a:pPr>
            <a:r>
              <a:rPr sz="1100" b="0">
                <a:solidFill>
                  <a:srgbClr val="FFFFFF"/>
                </a:solidFill>
                <a:latin typeface="Calibri"/>
              </a:rPr>
              <a:t>- Opp. Goals After Broken Press Per Match — 0.21 — ranked 16th of 20. </a:t>
            </a:r>
            <a:r>
              <a:rPr sz="1100" b="0">
                <a:solidFill>
                  <a:srgbClr val="AAAAAA"/>
                </a:solidFill>
                <a:latin typeface="Calibri"/>
              </a:rPr>
              <a:t>When the press is broken, opponents frequently score — the rest-defence is exposed.</a:t>
            </a:r>
          </a:p>
          <a:p>
            <a:pPr algn="l">
              <a:spcAft>
                <a:spcPts val="300"/>
              </a:spcAft>
            </a:pPr>
            <a:r>
              <a:rPr sz="400" b="0">
                <a:solidFill>
                  <a:srgbClr val="FFFFFF"/>
                </a:solidFill>
                <a:latin typeface="Calibri"/>
              </a:rPr>
              <a:t/>
            </a:r>
          </a:p>
          <a:p>
            <a:pPr algn="l">
              <a:spcAft>
                <a:spcPts val="300"/>
              </a:spcAft>
            </a:pPr>
            <a:r>
              <a:rPr sz="1100" b="0">
                <a:solidFill>
                  <a:srgbClr val="787878"/>
                </a:solidFill>
                <a:latin typeface="Calibri"/>
              </a:rPr>
              <a:t>Context: Liverpool spent 91.4% of their out-of-possession time defending in a high or medium block, ranking 10th out of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How Data Reaches the LLM</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400" b="0">
                <a:solidFill>
                  <a:srgbClr val="00C878"/>
                </a:solidFill>
                <a:latin typeface="Calibri"/>
              </a:defRPr>
            </a:pPr>
            <a:r>
              <a:t>Direct consequence statements eliminate ambiguity</a:t>
            </a:r>
          </a:p>
        </p:txBody>
      </p:sp>
      <p:sp>
        <p:nvSpPr>
          <p:cNvPr id="4" name="TextBox 3"/>
          <p:cNvSpPr txBox="1"/>
          <p:nvPr/>
        </p:nvSpPr>
        <p:spPr>
          <a:xfrm>
            <a:off x="457200" y="1463040"/>
            <a:ext cx="5029200" cy="2743200"/>
          </a:xfrm>
          <a:prstGeom prst="rect">
            <a:avLst/>
          </a:prstGeom>
          <a:noFill/>
        </p:spPr>
        <p:txBody>
          <a:bodyPr wrap="square">
            <a:spAutoFit/>
          </a:bodyPr>
          <a:lstStyle/>
          <a:p>
            <a:pPr algn="l">
              <a:spcAft>
                <a:spcPts val="400"/>
              </a:spcAft>
            </a:pPr>
            <a:r>
              <a:rPr sz="1600" b="1">
                <a:solidFill>
                  <a:srgbClr val="FF6464"/>
                </a:solidFill>
                <a:latin typeface="Calibri"/>
              </a:rPr>
              <a:t>BEFORE: Ambiguous</a:t>
            </a:r>
          </a:p>
          <a:p>
            <a:pPr algn="l">
              <a:spcAft>
                <a:spcPts val="400"/>
              </a:spcAft>
            </a:pPr>
            <a:r>
              <a:rPr sz="600" b="0">
                <a:solidFill>
                  <a:srgbClr val="FFFFFF"/>
                </a:solidFill>
                <a:latin typeface="Calibri"/>
              </a:rPr>
              <a:t/>
            </a:r>
          </a:p>
          <a:p>
            <a:pPr algn="l">
              <a:spcAft>
                <a:spcPts val="400"/>
              </a:spcAft>
            </a:pPr>
            <a:r>
              <a:rPr sz="1300" b="0">
                <a:solidFill>
                  <a:srgbClr val="AAAAAA"/>
                </a:solidFill>
                <a:latin typeface="Calibri"/>
              </a:rPr>
              <a:t>The team was </a:t>
            </a:r>
            <a:r>
              <a:rPr sz="1300" b="1">
                <a:solidFill>
                  <a:srgbClr val="FF6464"/>
                </a:solidFill>
                <a:latin typeface="Calibri"/>
              </a:rPr>
              <a:t>poor</a:t>
            </a:r>
            <a:r>
              <a:rPr sz="1300" b="0">
                <a:solidFill>
                  <a:srgbClr val="AAAAAA"/>
                </a:solidFill>
                <a:latin typeface="Calibri"/>
              </a:rPr>
              <a:t> in Opp. Pass Accuracy Under Pressure</a:t>
            </a:r>
          </a:p>
          <a:p>
            <a:pPr algn="l">
              <a:spcAft>
                <a:spcPts val="400"/>
              </a:spcAft>
            </a:pPr>
            <a:r>
              <a:rPr sz="800" b="0">
                <a:solidFill>
                  <a:srgbClr val="FFFFFF"/>
                </a:solidFill>
                <a:latin typeface="Calibri"/>
              </a:rPr>
              <a:t/>
            </a:r>
          </a:p>
          <a:p>
            <a:pPr algn="l">
              <a:spcAft>
                <a:spcPts val="400"/>
              </a:spcAft>
            </a:pPr>
            <a:r>
              <a:rPr sz="1300" b="1">
                <a:solidFill>
                  <a:srgbClr val="FF6464"/>
                </a:solidFill>
                <a:latin typeface="Calibri"/>
              </a:rPr>
              <a:t>Problem: </a:t>
            </a:r>
            <a:r>
              <a:rPr sz="1300" b="0">
                <a:solidFill>
                  <a:srgbClr val="FFFFFF"/>
                </a:solidFill>
                <a:latin typeface="Calibri"/>
              </a:rPr>
              <a:t>Does 'poor' mean opponents pass well or badly?</a:t>
            </a:r>
          </a:p>
          <a:p>
            <a:pPr algn="l">
              <a:spcAft>
                <a:spcPts val="400"/>
              </a:spcAft>
            </a:pPr>
            <a:r>
              <a:rPr sz="1300" b="0">
                <a:solidFill>
                  <a:srgbClr val="FFFFFF"/>
                </a:solidFill>
                <a:latin typeface="Calibri"/>
              </a:rPr>
              <a:t>The LLM has to guess direction — and often gets it wrong.</a:t>
            </a:r>
          </a:p>
        </p:txBody>
      </p:sp>
      <p:sp>
        <p:nvSpPr>
          <p:cNvPr id="5" name="TextBox 4"/>
          <p:cNvSpPr txBox="1"/>
          <p:nvPr/>
        </p:nvSpPr>
        <p:spPr>
          <a:xfrm>
            <a:off x="6400800" y="1463040"/>
            <a:ext cx="5303520" cy="2743200"/>
          </a:xfrm>
          <a:prstGeom prst="rect">
            <a:avLst/>
          </a:prstGeom>
          <a:noFill/>
        </p:spPr>
        <p:txBody>
          <a:bodyPr wrap="square">
            <a:spAutoFit/>
          </a:bodyPr>
          <a:lstStyle/>
          <a:p>
            <a:pPr algn="l">
              <a:spcAft>
                <a:spcPts val="400"/>
              </a:spcAft>
            </a:pPr>
            <a:r>
              <a:rPr sz="1600" b="1">
                <a:solidFill>
                  <a:srgbClr val="00C878"/>
                </a:solidFill>
                <a:latin typeface="Calibri"/>
              </a:rPr>
              <a:t>AFTER: Consequence Statements</a:t>
            </a:r>
          </a:p>
          <a:p>
            <a:pPr algn="l">
              <a:spcAft>
                <a:spcPts val="400"/>
              </a:spcAft>
            </a:pPr>
            <a:r>
              <a:rPr sz="600" b="0">
                <a:solidFill>
                  <a:srgbClr val="FFFFFF"/>
                </a:solidFill>
                <a:latin typeface="Calibri"/>
              </a:rPr>
              <a:t/>
            </a:r>
          </a:p>
          <a:p>
            <a:pPr algn="l">
              <a:spcAft>
                <a:spcPts val="400"/>
              </a:spcAft>
            </a:pPr>
            <a:r>
              <a:rPr sz="1300" b="0">
                <a:solidFill>
                  <a:srgbClr val="FFFFFF"/>
                </a:solidFill>
                <a:latin typeface="Calibri"/>
              </a:rPr>
              <a:t>Opponents pass comfortably under this team's pressure — the press does little to disrupt passing accuracy.</a:t>
            </a:r>
          </a:p>
          <a:p>
            <a:pPr algn="l">
              <a:spcAft>
                <a:spcPts val="400"/>
              </a:spcAft>
            </a:pPr>
            <a:r>
              <a:rPr sz="800" b="0">
                <a:solidFill>
                  <a:srgbClr val="FFFFFF"/>
                </a:solidFill>
                <a:latin typeface="Calibri"/>
              </a:rPr>
              <a:t/>
            </a:r>
          </a:p>
          <a:p>
            <a:pPr algn="l">
              <a:spcAft>
                <a:spcPts val="400"/>
              </a:spcAft>
            </a:pPr>
            <a:r>
              <a:rPr sz="1300" b="1">
                <a:solidFill>
                  <a:srgbClr val="00C878"/>
                </a:solidFill>
                <a:latin typeface="Calibri"/>
              </a:rPr>
              <a:t>Benefit: </a:t>
            </a:r>
            <a:r>
              <a:rPr sz="1300" b="0">
                <a:solidFill>
                  <a:srgbClr val="FFFFFF"/>
                </a:solidFill>
                <a:latin typeface="Calibri"/>
              </a:rPr>
              <a:t>No ambiguity. The LLM reads plain football language.</a:t>
            </a:r>
          </a:p>
          <a:p>
            <a:pPr algn="l">
              <a:spcAft>
                <a:spcPts val="400"/>
              </a:spcAft>
            </a:pPr>
            <a:r>
              <a:rPr sz="1300" b="0">
                <a:solidFill>
                  <a:srgbClr val="FFFFFF"/>
                </a:solidFill>
                <a:latin typeface="Calibri"/>
              </a:rPr>
              <a:t>48 statements (8 metrics × 6 levels) cover every case.</a:t>
            </a:r>
          </a:p>
        </p:txBody>
      </p:sp>
      <p:sp>
        <p:nvSpPr>
          <p:cNvPr id="6" name="TextBox 5"/>
          <p:cNvSpPr txBox="1"/>
          <p:nvPr/>
        </p:nvSpPr>
        <p:spPr>
          <a:xfrm>
            <a:off x="457200" y="4389120"/>
            <a:ext cx="10972800" cy="2286000"/>
          </a:xfrm>
          <a:prstGeom prst="rect">
            <a:avLst/>
          </a:prstGeom>
          <a:noFill/>
        </p:spPr>
        <p:txBody>
          <a:bodyPr wrap="square">
            <a:spAutoFit/>
          </a:bodyPr>
          <a:lstStyle/>
          <a:p>
            <a:pPr algn="l">
              <a:spcAft>
                <a:spcPts val="400"/>
              </a:spcAft>
            </a:pPr>
            <a:r>
              <a:rPr sz="1400" b="1">
                <a:solidFill>
                  <a:srgbClr val="FFFFFF"/>
                </a:solidFill>
                <a:latin typeface="Calibri"/>
              </a:rPr>
              <a:t>The LLM never needs to know:</a:t>
            </a:r>
          </a:p>
          <a:p>
            <a:pPr algn="l">
              <a:spcAft>
                <a:spcPts val="400"/>
              </a:spcAft>
            </a:pPr>
            <a:r>
              <a:rPr sz="1300" b="0">
                <a:solidFill>
                  <a:srgbClr val="AAAAAA"/>
                </a:solidFill>
                <a:latin typeface="Calibri"/>
              </a:rPr>
              <a:t>  • What a z-score is</a:t>
            </a:r>
          </a:p>
          <a:p>
            <a:pPr algn="l">
              <a:spcAft>
                <a:spcPts val="400"/>
              </a:spcAft>
            </a:pPr>
            <a:r>
              <a:rPr sz="1300" b="0">
                <a:solidFill>
                  <a:srgbClr val="AAAAAA"/>
                </a:solidFill>
                <a:latin typeface="Calibri"/>
              </a:rPr>
              <a:t>  • Whether higher PPDA is good or bad</a:t>
            </a:r>
          </a:p>
          <a:p>
            <a:pPr algn="l">
              <a:spcAft>
                <a:spcPts val="400"/>
              </a:spcAft>
            </a:pPr>
            <a:r>
              <a:rPr sz="1300" b="0">
                <a:solidFill>
                  <a:srgbClr val="AAAAAA"/>
                </a:solidFill>
                <a:latin typeface="Calibri"/>
              </a:rPr>
              <a:t>  • How to interpret inverted metrics</a:t>
            </a:r>
          </a:p>
          <a:p>
            <a:pPr algn="l">
              <a:spcAft>
                <a:spcPts val="400"/>
              </a:spcAft>
            </a:pPr>
            <a:r>
              <a:rPr sz="1300" b="0">
                <a:solidFill>
                  <a:srgbClr val="00C878"/>
                </a:solidFill>
                <a:latin typeface="Calibri"/>
              </a:rPr>
              <a:t>All interpretation is pre-computed in METRIC_CONSEQUENCES.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The Prompt</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400" b="0">
                <a:solidFill>
                  <a:srgbClr val="00C878"/>
                </a:solidFill>
                <a:latin typeface="Calibri"/>
              </a:defRPr>
            </a:pPr>
            <a:r>
              <a:t>Layered message chain — each layer serves a purpose</a:t>
            </a:r>
          </a:p>
        </p:txBody>
      </p:sp>
      <p:sp>
        <p:nvSpPr>
          <p:cNvPr id="4" name="TextBox 3"/>
          <p:cNvSpPr txBox="1"/>
          <p:nvPr/>
        </p:nvSpPr>
        <p:spPr>
          <a:xfrm>
            <a:off x="457200" y="1371600"/>
            <a:ext cx="10972800" cy="5303520"/>
          </a:xfrm>
          <a:prstGeom prst="rect">
            <a:avLst/>
          </a:prstGeom>
          <a:noFill/>
        </p:spPr>
        <p:txBody>
          <a:bodyPr wrap="square">
            <a:spAutoFit/>
          </a:bodyPr>
          <a:lstStyle/>
          <a:p>
            <a:pPr algn="l">
              <a:spcAft>
                <a:spcPts val="400"/>
              </a:spcAft>
            </a:pPr>
            <a:r>
              <a:rPr sz="1400" b="1">
                <a:solidFill>
                  <a:srgbClr val="00C878"/>
                </a:solidFill>
                <a:latin typeface="Calibri"/>
              </a:rPr>
              <a:t>① System Message</a:t>
            </a:r>
          </a:p>
          <a:p>
            <a:pPr algn="l">
              <a:spcAft>
                <a:spcPts val="400"/>
              </a:spcAft>
            </a:pPr>
            <a:r>
              <a:rPr sz="1200" b="0">
                <a:solidFill>
                  <a:srgbClr val="AAAAAA"/>
                </a:solidFill>
                <a:latin typeface="Calibri"/>
              </a:rPr>
              <a:t>"You are a tactical data analyst embedded in a Premier League coaching staff..."</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② Q&amp;A Pairs</a:t>
            </a:r>
            <a:r>
              <a:rPr sz="1100" b="0">
                <a:solidFill>
                  <a:srgbClr val="787878"/>
                </a:solidFill>
                <a:latin typeface="Calibri"/>
              </a:rPr>
              <a:t>  (data/describe/Pressing_analyst.csv — 20 pairs)</a:t>
            </a:r>
          </a:p>
          <a:p>
            <a:pPr algn="l">
              <a:spcAft>
                <a:spcPts val="400"/>
              </a:spcAft>
            </a:pPr>
            <a:r>
              <a:rPr sz="1200" b="0">
                <a:solidFill>
                  <a:srgbClr val="AAAAAA"/>
                </a:solidFill>
                <a:latin typeface="Calibri"/>
              </a:rPr>
              <a:t>Teaches metric definitions, combinations, and interpretation rules.</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③ Task Prompt</a:t>
            </a:r>
          </a:p>
          <a:p>
            <a:pPr algn="l">
              <a:spcAft>
                <a:spcPts val="400"/>
              </a:spcAft>
            </a:pPr>
            <a:r>
              <a:rPr sz="1200" b="0">
                <a:solidFill>
                  <a:srgbClr val="FFFFFF"/>
                </a:solidFill>
                <a:latin typeface="Calibri"/>
              </a:rPr>
              <a:t>"Give a concise 4-sentence briefing of this team's pressing style."</a:t>
            </a:r>
          </a:p>
          <a:p>
            <a:pPr algn="l">
              <a:spcAft>
                <a:spcPts val="400"/>
              </a:spcAft>
            </a:pPr>
            <a:r>
              <a:rPr sz="1200" b="0">
                <a:solidFill>
                  <a:srgbClr val="FF6464"/>
                </a:solidFill>
                <a:latin typeface="Calibri"/>
              </a:rPr>
              <a:t>Rules: no metric names, no level labels, no parenthetical references.</a:t>
            </a:r>
          </a:p>
          <a:p>
            <a:pPr algn="l">
              <a:spcAft>
                <a:spcPts val="400"/>
              </a:spcAft>
            </a:pPr>
            <a:r>
              <a:rPr sz="1200" b="0">
                <a:solidFill>
                  <a:srgbClr val="FF6464"/>
                </a:solidFill>
                <a:latin typeface="Calibri"/>
              </a:rPr>
              <a:t>Do not invent consequences not in the data.</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④ Few-Shot Examples</a:t>
            </a:r>
            <a:r>
              <a:rPr sz="1100" b="0">
                <a:solidFill>
                  <a:srgbClr val="787878"/>
                </a:solidFill>
                <a:latin typeface="Calibri"/>
              </a:rPr>
              <a:t>  (data/gpt_examples/Pressing_analyst.csv — 4 teams)</a:t>
            </a:r>
          </a:p>
          <a:p>
            <a:pPr algn="l">
              <a:spcAft>
                <a:spcPts val="400"/>
              </a:spcAft>
            </a:pPr>
            <a:r>
              <a:rPr sz="1200" b="0">
                <a:solidFill>
                  <a:srgbClr val="AAAAAA"/>
                </a:solidFill>
                <a:latin typeface="Calibri"/>
              </a:rPr>
              <a:t>Liverpool (aggressive), Arsenal (selective), Nottingham (weak), Wolverhampton (neutral).</a:t>
            </a:r>
          </a:p>
          <a:p>
            <a:pPr algn="l">
              <a:spcAft>
                <a:spcPts val="400"/>
              </a:spcAft>
            </a:pPr>
            <a:r>
              <a:rPr sz="1200" b="0">
                <a:solidFill>
                  <a:srgbClr val="AAAAAA"/>
                </a:solidFill>
                <a:latin typeface="Calibri"/>
              </a:rPr>
              <a:t>Each includes Block % context paragraph — demonstrates how to weave it in.</a:t>
            </a:r>
          </a:p>
          <a:p>
            <a:pPr algn="l">
              <a:spcAft>
                <a:spcPts val="400"/>
              </a:spcAft>
            </a:pPr>
            <a:r>
              <a:rPr sz="600" b="0">
                <a:solidFill>
                  <a:srgbClr val="FFFFFF"/>
                </a:solidFill>
                <a:latin typeface="Calibri"/>
              </a:rPr>
              <a:t/>
            </a:r>
          </a:p>
          <a:p>
            <a:pPr algn="l">
              <a:spcAft>
                <a:spcPts val="400"/>
              </a:spcAft>
            </a:pPr>
            <a:r>
              <a:rPr sz="1400" b="1">
                <a:solidFill>
                  <a:srgbClr val="00C878"/>
                </a:solidFill>
                <a:latin typeface="Calibri"/>
              </a:rPr>
              <a:t>⑤ Final Message</a:t>
            </a:r>
          </a:p>
          <a:p>
            <a:pPr algn="l">
              <a:spcAft>
                <a:spcPts val="400"/>
              </a:spcAft>
            </a:pPr>
            <a:r>
              <a:rPr sz="1200" b="0">
                <a:solidFill>
                  <a:srgbClr val="FFFFFF"/>
                </a:solidFill>
                <a:latin typeface="Calibri"/>
              </a:rPr>
              <a:t>"Now do the same thing with the following: ```{synthesized_text}```"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Embeddings</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400" b="0">
                <a:solidFill>
                  <a:srgbClr val="00C878"/>
                </a:solidFill>
                <a:latin typeface="Calibri"/>
              </a:defRPr>
            </a:pPr>
            <a:r>
              <a:t>RAG-based follow-up chat with grounded context</a:t>
            </a:r>
          </a:p>
        </p:txBody>
      </p:sp>
      <p:sp>
        <p:nvSpPr>
          <p:cNvPr id="4" name="TextBox 3"/>
          <p:cNvSpPr txBox="1"/>
          <p:nvPr/>
        </p:nvSpPr>
        <p:spPr>
          <a:xfrm>
            <a:off x="457200" y="1371600"/>
            <a:ext cx="10972800" cy="5029200"/>
          </a:xfrm>
          <a:prstGeom prst="rect">
            <a:avLst/>
          </a:prstGeom>
          <a:noFill/>
        </p:spPr>
        <p:txBody>
          <a:bodyPr wrap="square">
            <a:spAutoFit/>
          </a:bodyPr>
          <a:lstStyle/>
          <a:p>
            <a:pPr algn="l">
              <a:spcAft>
                <a:spcPts val="400"/>
              </a:spcAft>
            </a:pPr>
            <a:r>
              <a:rPr sz="1600" b="1">
                <a:solidFill>
                  <a:srgbClr val="FFFFFF"/>
                </a:solidFill>
                <a:latin typeface="Calibri"/>
              </a:rPr>
              <a:t>How it works:</a:t>
            </a:r>
          </a:p>
          <a:p>
            <a:pPr algn="l">
              <a:spcAft>
                <a:spcPts val="400"/>
              </a:spcAft>
            </a:pPr>
            <a:r>
              <a:rPr sz="600" b="0">
                <a:solidFill>
                  <a:srgbClr val="FFFFFF"/>
                </a:solidFill>
                <a:latin typeface="Calibri"/>
              </a:rPr>
              <a:t/>
            </a:r>
          </a:p>
          <a:p>
            <a:pPr algn="l">
              <a:spcAft>
                <a:spcPts val="400"/>
              </a:spcAft>
            </a:pPr>
            <a:r>
              <a:rPr sz="1300" b="1">
                <a:solidFill>
                  <a:srgbClr val="00C878"/>
                </a:solidFill>
                <a:latin typeface="Calibri"/>
              </a:rPr>
              <a:t>1. Pre-compute</a:t>
            </a:r>
            <a:r>
              <a:rPr sz="1300" b="0">
                <a:solidFill>
                  <a:srgbClr val="FFFFFF"/>
                </a:solidFill>
                <a:latin typeface="Calibri"/>
              </a:rPr>
              <a:t>  Q&amp;A pairs from data/describe/Pressing_analyst.csv are embedded</a:t>
            </a:r>
          </a:p>
          <a:p>
            <a:pPr algn="l">
              <a:spcAft>
                <a:spcPts val="400"/>
              </a:spcAft>
            </a:pPr>
            <a:r>
              <a:rPr sz="1200" b="0">
                <a:solidFill>
                  <a:srgbClr val="AAAAAA"/>
                </a:solidFill>
                <a:latin typeface="Calibri"/>
              </a:rPr>
              <a:t>   → stored in data/embeddings/Pressing_analyst.parquet</a:t>
            </a:r>
          </a:p>
          <a:p>
            <a:pPr algn="l">
              <a:spcAft>
                <a:spcPts val="400"/>
              </a:spcAft>
            </a:pPr>
            <a:r>
              <a:rPr sz="600" b="0">
                <a:solidFill>
                  <a:srgbClr val="FFFFFF"/>
                </a:solidFill>
                <a:latin typeface="Calibri"/>
              </a:rPr>
              <a:t/>
            </a:r>
          </a:p>
          <a:p>
            <a:pPr algn="l">
              <a:spcAft>
                <a:spcPts val="400"/>
              </a:spcAft>
            </a:pPr>
            <a:r>
              <a:rPr sz="1300" b="1">
                <a:solidFill>
                  <a:srgbClr val="00C878"/>
                </a:solidFill>
                <a:latin typeface="Calibri"/>
              </a:rPr>
              <a:t>2. At query time</a:t>
            </a:r>
            <a:r>
              <a:rPr sz="1300" b="0">
                <a:solidFill>
                  <a:srgbClr val="FFFFFF"/>
                </a:solidFill>
                <a:latin typeface="Calibri"/>
              </a:rPr>
              <a:t>  User's chat question is embedded with the same model</a:t>
            </a:r>
          </a:p>
          <a:p>
            <a:pPr algn="l">
              <a:spcAft>
                <a:spcPts val="400"/>
              </a:spcAft>
            </a:pPr>
            <a:r>
              <a:rPr sz="600" b="0">
                <a:solidFill>
                  <a:srgbClr val="FFFFFF"/>
                </a:solidFill>
                <a:latin typeface="Calibri"/>
              </a:rPr>
              <a:t/>
            </a:r>
          </a:p>
          <a:p>
            <a:pPr algn="l">
              <a:spcAft>
                <a:spcPts val="400"/>
              </a:spcAft>
            </a:pPr>
            <a:r>
              <a:rPr sz="1300" b="1">
                <a:solidFill>
                  <a:srgbClr val="00C878"/>
                </a:solidFill>
                <a:latin typeface="Calibri"/>
              </a:rPr>
              <a:t>3. Search</a:t>
            </a:r>
            <a:r>
              <a:rPr sz="1300" b="0">
                <a:solidFill>
                  <a:srgbClr val="FFFFFF"/>
                </a:solidFill>
                <a:latin typeface="Calibri"/>
              </a:rPr>
              <a:t>  Cosine similarity → top 5 matches (threshold &gt; 0.7)</a:t>
            </a:r>
          </a:p>
          <a:p>
            <a:pPr algn="l">
              <a:spcAft>
                <a:spcPts val="400"/>
              </a:spcAft>
            </a:pPr>
            <a:r>
              <a:rPr sz="600" b="0">
                <a:solidFill>
                  <a:srgbClr val="FFFFFF"/>
                </a:solidFill>
                <a:latin typeface="Calibri"/>
              </a:rPr>
              <a:t/>
            </a:r>
          </a:p>
          <a:p>
            <a:pPr algn="l">
              <a:spcAft>
                <a:spcPts val="400"/>
              </a:spcAft>
            </a:pPr>
            <a:r>
              <a:rPr sz="1300" b="1">
                <a:solidFill>
                  <a:srgbClr val="00C878"/>
                </a:solidFill>
                <a:latin typeface="Calibri"/>
              </a:rPr>
              <a:t>4. Inject</a:t>
            </a:r>
            <a:r>
              <a:rPr sz="1300" b="0">
                <a:solidFill>
                  <a:srgbClr val="FFFFFF"/>
                </a:solidFill>
                <a:latin typeface="Calibri"/>
              </a:rPr>
              <a:t>  Retrieved Q&amp;A answers + synthesized text → sent to LLM as context</a:t>
            </a:r>
          </a:p>
          <a:p>
            <a:pPr algn="l">
              <a:spcAft>
                <a:spcPts val="400"/>
              </a:spcAft>
            </a:pPr>
            <a:r>
              <a:rPr sz="1000" b="0">
                <a:solidFill>
                  <a:srgbClr val="FFFFFF"/>
                </a:solidFill>
                <a:latin typeface="Calibri"/>
              </a:rPr>
              <a:t/>
            </a:r>
          </a:p>
          <a:p>
            <a:pPr algn="l">
              <a:spcAft>
                <a:spcPts val="400"/>
              </a:spcAft>
            </a:pPr>
            <a:r>
              <a:rPr sz="1600" b="1">
                <a:solidFill>
                  <a:srgbClr val="FFFFFF"/>
                </a:solidFill>
                <a:latin typeface="Calibri"/>
              </a:rPr>
              <a:t>Chat grounding:</a:t>
            </a:r>
          </a:p>
          <a:p>
            <a:pPr algn="l">
              <a:spcAft>
                <a:spcPts val="400"/>
              </a:spcAft>
            </a:pPr>
            <a:r>
              <a:rPr sz="400" b="0">
                <a:solidFill>
                  <a:srgbClr val="FFFFFF"/>
                </a:solidFill>
                <a:latin typeface="Calibri"/>
              </a:rPr>
              <a:t/>
            </a:r>
          </a:p>
          <a:p>
            <a:pPr algn="l">
              <a:spcAft>
                <a:spcPts val="400"/>
              </a:spcAft>
            </a:pPr>
            <a:r>
              <a:rPr sz="1300" b="0">
                <a:solidFill>
                  <a:srgbClr val="FFFFFF"/>
                </a:solidFill>
                <a:latin typeface="Calibri"/>
              </a:rPr>
              <a:t>• synthesize_text() provides team-specific data (cached per session)</a:t>
            </a:r>
          </a:p>
          <a:p>
            <a:pPr algn="l">
              <a:spcAft>
                <a:spcPts val="400"/>
              </a:spcAft>
            </a:pPr>
            <a:r>
              <a:rPr sz="1300" b="0">
                <a:solidFill>
                  <a:srgbClr val="FFFFFF"/>
                </a:solidFill>
                <a:latin typeface="Calibri"/>
              </a:rPr>
              <a:t>• Embedding search provides domain knowledge (metric explanations, combinations)</a:t>
            </a:r>
          </a:p>
          <a:p>
            <a:pPr algn="l">
              <a:spcAft>
                <a:spcPts val="400"/>
              </a:spcAft>
            </a:pPr>
            <a:r>
              <a:rPr sz="1300" b="0">
                <a:solidFill>
                  <a:srgbClr val="FFFFFF"/>
                </a:solidFill>
                <a:latin typeface="Calibri"/>
              </a:rPr>
              <a:t>• System instruction: 2-sentence answers, do not deviate from provided info</a:t>
            </a:r>
          </a:p>
          <a:p>
            <a:pPr algn="l">
              <a:spcAft>
                <a:spcPts val="400"/>
              </a:spcAft>
            </a:pPr>
            <a:r>
              <a:rPr sz="1300" b="0">
                <a:solidFill>
                  <a:srgbClr val="FFFFFF"/>
                </a:solidFill>
                <a:latin typeface="Calibri"/>
              </a:rPr>
              <a:t>• Temperature: 0.3 (consistent with the initial briefing)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Benchmark — Fulham</a:t>
            </a:r>
          </a:p>
        </p:txBody>
      </p:sp>
      <p:sp>
        <p:nvSpPr>
          <p:cNvPr id="3" name="TextBox 2"/>
          <p:cNvSpPr txBox="1"/>
          <p:nvPr/>
        </p:nvSpPr>
        <p:spPr>
          <a:xfrm>
            <a:off x="457200" y="914400"/>
            <a:ext cx="182880" cy="274320"/>
          </a:xfrm>
          <a:prstGeom prst="rect">
            <a:avLst/>
          </a:prstGeom>
          <a:noFill/>
        </p:spPr>
        <p:txBody>
          <a:bodyPr wrap="square">
            <a:spAutoFit/>
          </a:bodyPr>
          <a:lstStyle/>
          <a:p>
            <a:pPr algn="l">
              <a:defRPr sz="1200" b="1">
                <a:solidFill>
                  <a:srgbClr val="00C878"/>
                </a:solidFill>
                <a:latin typeface="Calibri"/>
              </a:defRPr>
            </a:pPr>
            <a:r>
              <a:t>LLM Output:</a:t>
            </a:r>
          </a:p>
        </p:txBody>
      </p:sp>
      <p:sp>
        <p:nvSpPr>
          <p:cNvPr id="4" name="TextBox 3"/>
          <p:cNvSpPr txBox="1"/>
          <p:nvPr/>
        </p:nvSpPr>
        <p:spPr>
          <a:xfrm>
            <a:off x="457200" y="1188720"/>
            <a:ext cx="5303520" cy="3200400"/>
          </a:xfrm>
          <a:prstGeom prst="rect">
            <a:avLst/>
          </a:prstGeom>
          <a:noFill/>
        </p:spPr>
        <p:txBody>
          <a:bodyPr wrap="square">
            <a:spAutoFit/>
          </a:bodyPr>
          <a:lstStyle/>
          <a:p>
            <a:pPr algn="l">
              <a:defRPr sz="1200" b="0">
                <a:solidFill>
                  <a:srgbClr val="FFFFFF"/>
                </a:solidFill>
                <a:latin typeface="Calibri"/>
              </a:defRPr>
            </a:pPr>
            <a:r>
              <a:t>Fulham press at a standard rate without standing out in any particular area of high-press intensity or frequency. Their clear strength is behind the press: when opponents do escape, they rarely convert into goals, suggesting a well-organised rest-defence that absorbs danger effectively. However, the press itself offers limited disruption — opponents escape at a higher-than-average rate, pass comfortably under pressure, and are not forced into long balls with any regularity. Overall, Fulham prioritise defensive resilience and damage limitation over aggressive high pressing, accepting that opponents will build through the initial engagement but backing themselves to contain the consequences.</a:t>
            </a:r>
          </a:p>
        </p:txBody>
      </p:sp>
      <p:sp>
        <p:nvSpPr>
          <p:cNvPr id="5" name="TextBox 4"/>
          <p:cNvSpPr txBox="1"/>
          <p:nvPr/>
        </p:nvSpPr>
        <p:spPr>
          <a:xfrm>
            <a:off x="6217920" y="914400"/>
            <a:ext cx="5486400" cy="5486400"/>
          </a:xfrm>
          <a:prstGeom prst="rect">
            <a:avLst/>
          </a:prstGeom>
          <a:noFill/>
        </p:spPr>
        <p:txBody>
          <a:bodyPr wrap="square">
            <a:spAutoFit/>
          </a:bodyPr>
          <a:lstStyle/>
          <a:p>
            <a:pPr algn="l">
              <a:spcAft>
                <a:spcPts val="300"/>
              </a:spcAft>
            </a:pPr>
            <a:r>
              <a:rPr sz="1200" b="1">
                <a:solidFill>
                  <a:srgbClr val="00C878"/>
                </a:solidFill>
                <a:latin typeface="Calibri"/>
              </a:rPr>
              <a:t>What the LLM received:</a:t>
            </a:r>
          </a:p>
          <a:p>
            <a:pPr algn="l">
              <a:spcAft>
                <a:spcPts val="300"/>
              </a:spcAft>
            </a:pPr>
            <a:r>
              <a:rPr sz="400" b="0">
                <a:solidFill>
                  <a:srgbClr val="FFFFFF"/>
                </a:solidFill>
                <a:latin typeface="Calibri"/>
              </a:rPr>
              <a:t/>
            </a:r>
          </a:p>
          <a:p>
            <a:pPr algn="l">
              <a:spcAft>
                <a:spcPts val="300"/>
              </a:spcAft>
            </a:pPr>
            <a:r>
              <a:rPr sz="1100" b="1">
                <a:solidFill>
                  <a:srgbClr val="00C878"/>
                </a:solidFill>
                <a:latin typeface="Calibri"/>
              </a:rPr>
              <a:t>Strengths:</a:t>
            </a:r>
          </a:p>
          <a:p>
            <a:pPr algn="l">
              <a:spcAft>
                <a:spcPts val="300"/>
              </a:spcAft>
            </a:pPr>
            <a:r>
              <a:rPr sz="1000" b="0">
                <a:solidFill>
                  <a:srgbClr val="FFFFFF"/>
                </a:solidFill>
                <a:latin typeface="Calibri"/>
              </a:rPr>
              <a:t>  Opp. Goals After Broken Press Per Match — 0.05 — 2nd</a:t>
            </a:r>
          </a:p>
          <a:p>
            <a:pPr algn="l">
              <a:spcAft>
                <a:spcPts val="300"/>
              </a:spcAft>
            </a:pPr>
            <a:r>
              <a:rPr sz="300" b="0">
                <a:solidFill>
                  <a:srgbClr val="FFFFFF"/>
                </a:solidFill>
                <a:latin typeface="Calibri"/>
              </a:rPr>
              <a:t/>
            </a:r>
          </a:p>
          <a:p>
            <a:pPr algn="l">
              <a:spcAft>
                <a:spcPts val="300"/>
              </a:spcAft>
            </a:pPr>
            <a:r>
              <a:rPr sz="1100" b="1">
                <a:solidFill>
                  <a:srgbClr val="FFFFFF"/>
                </a:solidFill>
                <a:latin typeface="Calibri"/>
              </a:rPr>
              <a:t>Neutral:</a:t>
            </a:r>
          </a:p>
          <a:p>
            <a:pPr algn="l">
              <a:spcAft>
                <a:spcPts val="300"/>
              </a:spcAft>
            </a:pPr>
            <a:r>
              <a:rPr sz="1000" b="0">
                <a:solidFill>
                  <a:srgbClr val="AAAAAA"/>
                </a:solidFill>
                <a:latin typeface="Calibri"/>
              </a:rPr>
              <a:t>  Pressing Chains Per Match — 20.05 — 7th</a:t>
            </a:r>
          </a:p>
          <a:p>
            <a:pPr algn="l">
              <a:spcAft>
                <a:spcPts val="300"/>
              </a:spcAft>
            </a:pPr>
            <a:r>
              <a:rPr sz="1000" b="0">
                <a:solidFill>
                  <a:srgbClr val="AAAAAA"/>
                </a:solidFill>
                <a:latin typeface="Calibri"/>
              </a:rPr>
              <a:t>  Regains In Opp. Half Per Match — 25.95 — 15th</a:t>
            </a:r>
          </a:p>
          <a:p>
            <a:pPr algn="l">
              <a:spcAft>
                <a:spcPts val="300"/>
              </a:spcAft>
            </a:pPr>
            <a:r>
              <a:rPr sz="1000" b="0">
                <a:solidFill>
                  <a:srgbClr val="AAAAAA"/>
                </a:solidFill>
                <a:latin typeface="Calibri"/>
              </a:rPr>
              <a:t>  Press Break Rate In Opp. Half — 65.88% — 15th</a:t>
            </a:r>
          </a:p>
          <a:p>
            <a:pPr algn="l">
              <a:spcAft>
                <a:spcPts val="300"/>
              </a:spcAft>
            </a:pPr>
            <a:r>
              <a:rPr sz="1000" b="0">
                <a:solidFill>
                  <a:srgbClr val="AAAAAA"/>
                </a:solidFill>
                <a:latin typeface="Calibri"/>
              </a:rPr>
              <a:t>  Opp. Pass Accuracy Under Pressure — 90.23% — 15th</a:t>
            </a:r>
          </a:p>
          <a:p>
            <a:pPr algn="l">
              <a:spcAft>
                <a:spcPts val="300"/>
              </a:spcAft>
            </a:pPr>
            <a:r>
              <a:rPr sz="1000" b="0">
                <a:solidFill>
                  <a:srgbClr val="AAAAAA"/>
                </a:solidFill>
                <a:latin typeface="Calibri"/>
              </a:rPr>
              <a:t>  PPDA — 9.65 — 13th</a:t>
            </a:r>
          </a:p>
          <a:p>
            <a:pPr algn="l">
              <a:spcAft>
                <a:spcPts val="300"/>
              </a:spcAft>
            </a:pPr>
            <a:r>
              <a:rPr sz="300" b="0">
                <a:solidFill>
                  <a:srgbClr val="FFFFFF"/>
                </a:solidFill>
                <a:latin typeface="Calibri"/>
              </a:rPr>
              <a:t/>
            </a:r>
          </a:p>
          <a:p>
            <a:pPr algn="l">
              <a:spcAft>
                <a:spcPts val="300"/>
              </a:spcAft>
            </a:pPr>
            <a:r>
              <a:rPr sz="1100" b="1">
                <a:solidFill>
                  <a:srgbClr val="FF6464"/>
                </a:solidFill>
                <a:latin typeface="Calibri"/>
              </a:rPr>
              <a:t>Weaknesses:</a:t>
            </a:r>
          </a:p>
          <a:p>
            <a:pPr algn="l">
              <a:spcAft>
                <a:spcPts val="300"/>
              </a:spcAft>
            </a:pPr>
            <a:r>
              <a:rPr sz="1000" b="0">
                <a:solidFill>
                  <a:srgbClr val="FFFFFF"/>
                </a:solidFill>
                <a:latin typeface="Calibri"/>
              </a:rPr>
              <a:t>  Opp. Long Balls Forced Per Match — 7.26 — 17th</a:t>
            </a:r>
          </a:p>
          <a:p>
            <a:pPr algn="l">
              <a:spcAft>
                <a:spcPts val="300"/>
              </a:spcAft>
            </a:pPr>
            <a:r>
              <a:rPr sz="1000" b="0">
                <a:solidFill>
                  <a:srgbClr val="FFFFFF"/>
                </a:solidFill>
                <a:latin typeface="Calibri"/>
              </a:rPr>
              <a:t>  Opp. Line-Breaking Pass Rate Under Pressure — 17.40% — 15th</a:t>
            </a:r>
          </a:p>
          <a:p>
            <a:pPr algn="l">
              <a:spcAft>
                <a:spcPts val="300"/>
              </a:spcAft>
            </a:pPr>
            <a:r>
              <a:rPr sz="400" b="0">
                <a:solidFill>
                  <a:srgbClr val="FFFFFF"/>
                </a:solidFill>
                <a:latin typeface="Calibri"/>
              </a:rPr>
              <a:t/>
            </a:r>
          </a:p>
          <a:p>
            <a:pPr algn="l">
              <a:spcAft>
                <a:spcPts val="300"/>
              </a:spcAft>
            </a:pPr>
            <a:r>
              <a:rPr sz="1000" b="0">
                <a:solidFill>
                  <a:srgbClr val="787878"/>
                </a:solidFill>
                <a:latin typeface="Calibri"/>
              </a:rPr>
              <a:t>Block: 89.9% (17th of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Example — Bournemouth</a:t>
            </a:r>
          </a:p>
        </p:txBody>
      </p:sp>
      <p:sp>
        <p:nvSpPr>
          <p:cNvPr id="3" name="TextBox 2"/>
          <p:cNvSpPr txBox="1"/>
          <p:nvPr/>
        </p:nvSpPr>
        <p:spPr>
          <a:xfrm>
            <a:off x="457200" y="914400"/>
            <a:ext cx="182880" cy="274320"/>
          </a:xfrm>
          <a:prstGeom prst="rect">
            <a:avLst/>
          </a:prstGeom>
          <a:noFill/>
        </p:spPr>
        <p:txBody>
          <a:bodyPr wrap="square">
            <a:spAutoFit/>
          </a:bodyPr>
          <a:lstStyle/>
          <a:p>
            <a:pPr algn="l">
              <a:defRPr sz="1200" b="1">
                <a:solidFill>
                  <a:srgbClr val="00C878"/>
                </a:solidFill>
                <a:latin typeface="Calibri"/>
              </a:defRPr>
            </a:pPr>
            <a:r>
              <a:t>LLM Output:</a:t>
            </a:r>
          </a:p>
        </p:txBody>
      </p:sp>
      <p:sp>
        <p:nvSpPr>
          <p:cNvPr id="4" name="TextBox 3"/>
          <p:cNvSpPr txBox="1"/>
          <p:nvPr/>
        </p:nvSpPr>
        <p:spPr>
          <a:xfrm>
            <a:off x="457200" y="1188720"/>
            <a:ext cx="5303520" cy="3200400"/>
          </a:xfrm>
          <a:prstGeom prst="rect">
            <a:avLst/>
          </a:prstGeom>
          <a:noFill/>
        </p:spPr>
        <p:txBody>
          <a:bodyPr wrap="square">
            <a:spAutoFit/>
          </a:bodyPr>
          <a:lstStyle/>
          <a:p>
            <a:pPr algn="l">
              <a:defRPr sz="1200" b="0">
                <a:solidFill>
                  <a:srgbClr val="FFFFFF"/>
                </a:solidFill>
                <a:latin typeface="Calibri"/>
              </a:defRPr>
            </a:pPr>
            <a:r>
              <a:t>Bournemouth press with real intensity, starting sequences high and often, stepping in early to break opponent build-up and winning the ball back in the opposition half at one of the highest rates in the league. The press locks opponents in effectively, forces long balls, and when the press is broken the rest-defence limits the damage — a well-rounded, aggressive system with genuine bite. Opponents can still play through the lines at a fairly typical rate, meaning the press disrupts passing but does not fully shut down vertical progression. Overall, Bournemouth commit heavily to high pressing and back it with solid cover, trading some vulnerability to line-breaking passes for dominant territorial pressure.</a:t>
            </a:r>
          </a:p>
        </p:txBody>
      </p:sp>
      <p:sp>
        <p:nvSpPr>
          <p:cNvPr id="5" name="TextBox 4"/>
          <p:cNvSpPr txBox="1"/>
          <p:nvPr/>
        </p:nvSpPr>
        <p:spPr>
          <a:xfrm>
            <a:off x="6217920" y="914400"/>
            <a:ext cx="5486400" cy="5486400"/>
          </a:xfrm>
          <a:prstGeom prst="rect">
            <a:avLst/>
          </a:prstGeom>
          <a:noFill/>
        </p:spPr>
        <p:txBody>
          <a:bodyPr wrap="square">
            <a:spAutoFit/>
          </a:bodyPr>
          <a:lstStyle/>
          <a:p>
            <a:pPr algn="l">
              <a:spcAft>
                <a:spcPts val="300"/>
              </a:spcAft>
            </a:pPr>
            <a:r>
              <a:rPr sz="1200" b="1">
                <a:solidFill>
                  <a:srgbClr val="00C878"/>
                </a:solidFill>
                <a:latin typeface="Calibri"/>
              </a:rPr>
              <a:t>What the LLM received:</a:t>
            </a:r>
          </a:p>
          <a:p>
            <a:pPr algn="l">
              <a:spcAft>
                <a:spcPts val="300"/>
              </a:spcAft>
            </a:pPr>
            <a:r>
              <a:rPr sz="400" b="0">
                <a:solidFill>
                  <a:srgbClr val="FFFFFF"/>
                </a:solidFill>
                <a:latin typeface="Calibri"/>
              </a:rPr>
              <a:t/>
            </a:r>
          </a:p>
          <a:p>
            <a:pPr algn="l">
              <a:spcAft>
                <a:spcPts val="300"/>
              </a:spcAft>
            </a:pPr>
            <a:r>
              <a:rPr sz="1100" b="1">
                <a:solidFill>
                  <a:srgbClr val="00C878"/>
                </a:solidFill>
                <a:latin typeface="Calibri"/>
              </a:rPr>
              <a:t>Strengths:</a:t>
            </a:r>
          </a:p>
          <a:p>
            <a:pPr algn="l">
              <a:spcAft>
                <a:spcPts val="300"/>
              </a:spcAft>
            </a:pPr>
            <a:r>
              <a:rPr sz="1000" b="0">
                <a:solidFill>
                  <a:srgbClr val="FFFFFF"/>
                </a:solidFill>
                <a:latin typeface="Calibri"/>
              </a:rPr>
              <a:t>  Pressing Chains Per Match — 21.64 — 3rd</a:t>
            </a:r>
          </a:p>
          <a:p>
            <a:pPr algn="l">
              <a:spcAft>
                <a:spcPts val="300"/>
              </a:spcAft>
            </a:pPr>
            <a:r>
              <a:rPr sz="1000" b="0">
                <a:solidFill>
                  <a:srgbClr val="FFFFFF"/>
                </a:solidFill>
                <a:latin typeface="Calibri"/>
              </a:rPr>
              <a:t>  Regains In Opp. Half Per Match — 29.50 — 2nd</a:t>
            </a:r>
          </a:p>
          <a:p>
            <a:pPr algn="l">
              <a:spcAft>
                <a:spcPts val="300"/>
              </a:spcAft>
            </a:pPr>
            <a:r>
              <a:rPr sz="1000" b="0">
                <a:solidFill>
                  <a:srgbClr val="FFFFFF"/>
                </a:solidFill>
                <a:latin typeface="Calibri"/>
              </a:rPr>
              <a:t>  Opp. Goals After Broken Press Per Match — 0.06 — 5th</a:t>
            </a:r>
          </a:p>
          <a:p>
            <a:pPr algn="l">
              <a:spcAft>
                <a:spcPts val="300"/>
              </a:spcAft>
            </a:pPr>
            <a:r>
              <a:rPr sz="1000" b="0">
                <a:solidFill>
                  <a:srgbClr val="FFFFFF"/>
                </a:solidFill>
                <a:latin typeface="Calibri"/>
              </a:rPr>
              <a:t>  PPDA — 7.58 — 1st</a:t>
            </a:r>
          </a:p>
          <a:p>
            <a:pPr algn="l">
              <a:spcAft>
                <a:spcPts val="300"/>
              </a:spcAft>
            </a:pPr>
            <a:r>
              <a:rPr sz="300" b="0">
                <a:solidFill>
                  <a:srgbClr val="FFFFFF"/>
                </a:solidFill>
                <a:latin typeface="Calibri"/>
              </a:rPr>
              <a:t/>
            </a:r>
          </a:p>
          <a:p>
            <a:pPr algn="l">
              <a:spcAft>
                <a:spcPts val="300"/>
              </a:spcAft>
            </a:pPr>
            <a:r>
              <a:rPr sz="1100" b="1">
                <a:solidFill>
                  <a:srgbClr val="FFFFFF"/>
                </a:solidFill>
                <a:latin typeface="Calibri"/>
              </a:rPr>
              <a:t>Neutral:</a:t>
            </a:r>
          </a:p>
          <a:p>
            <a:pPr algn="l">
              <a:spcAft>
                <a:spcPts val="300"/>
              </a:spcAft>
            </a:pPr>
            <a:r>
              <a:rPr sz="1000" b="0">
                <a:solidFill>
                  <a:srgbClr val="AAAAAA"/>
                </a:solidFill>
                <a:latin typeface="Calibri"/>
              </a:rPr>
              <a:t>  Opp. Long Balls Forced Per Match — 8.58 — 6th</a:t>
            </a:r>
          </a:p>
          <a:p>
            <a:pPr algn="l">
              <a:spcAft>
                <a:spcPts val="300"/>
              </a:spcAft>
            </a:pPr>
            <a:r>
              <a:rPr sz="1000" b="0">
                <a:solidFill>
                  <a:srgbClr val="AAAAAA"/>
                </a:solidFill>
                <a:latin typeface="Calibri"/>
              </a:rPr>
              <a:t>  Press Break Rate In Opp. Half — 60.85% — 6th</a:t>
            </a:r>
          </a:p>
          <a:p>
            <a:pPr algn="l">
              <a:spcAft>
                <a:spcPts val="300"/>
              </a:spcAft>
            </a:pPr>
            <a:r>
              <a:rPr sz="1000" b="0">
                <a:solidFill>
                  <a:srgbClr val="AAAAAA"/>
                </a:solidFill>
                <a:latin typeface="Calibri"/>
              </a:rPr>
              <a:t>  Opp. Pass Accuracy Under Pressure — 89.01% — 7th</a:t>
            </a:r>
          </a:p>
          <a:p>
            <a:pPr algn="l">
              <a:spcAft>
                <a:spcPts val="300"/>
              </a:spcAft>
            </a:pPr>
            <a:r>
              <a:rPr sz="1000" b="0">
                <a:solidFill>
                  <a:srgbClr val="AAAAAA"/>
                </a:solidFill>
                <a:latin typeface="Calibri"/>
              </a:rPr>
              <a:t>  Opp. Line-Breaking Pass Rate Under Pressure — 17.28% — 12th</a:t>
            </a:r>
          </a:p>
          <a:p>
            <a:pPr algn="l">
              <a:spcAft>
                <a:spcPts val="300"/>
              </a:spcAft>
            </a:pPr>
            <a:r>
              <a:rPr sz="300" b="0">
                <a:solidFill>
                  <a:srgbClr val="FFFFFF"/>
                </a:solidFill>
                <a:latin typeface="Calibri"/>
              </a:rPr>
              <a:t/>
            </a:r>
          </a:p>
          <a:p>
            <a:pPr algn="l">
              <a:spcAft>
                <a:spcPts val="300"/>
              </a:spcAft>
            </a:pPr>
            <a:r>
              <a:rPr sz="400" b="0">
                <a:solidFill>
                  <a:srgbClr val="FFFFFF"/>
                </a:solidFill>
                <a:latin typeface="Calibri"/>
              </a:rPr>
              <a:t/>
            </a:r>
          </a:p>
          <a:p>
            <a:pPr algn="l">
              <a:spcAft>
                <a:spcPts val="300"/>
              </a:spcAft>
            </a:pPr>
            <a:r>
              <a:rPr sz="1000" b="0">
                <a:solidFill>
                  <a:srgbClr val="787878"/>
                </a:solidFill>
                <a:latin typeface="Calibri"/>
              </a:rPr>
              <a:t>Block: 92.4% (7th of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Context: Block Height</a:t>
            </a:r>
          </a:p>
        </p:txBody>
      </p:sp>
      <p:sp>
        <p:nvSpPr>
          <p:cNvPr id="3" name="TextBox 2"/>
          <p:cNvSpPr txBox="1"/>
          <p:nvPr/>
        </p:nvSpPr>
        <p:spPr>
          <a:xfrm>
            <a:off x="457200" y="777240"/>
            <a:ext cx="11277295" cy="365760"/>
          </a:xfrm>
          <a:prstGeom prst="rect">
            <a:avLst/>
          </a:prstGeom>
          <a:noFill/>
        </p:spPr>
        <p:txBody>
          <a:bodyPr wrap="square">
            <a:spAutoFit/>
          </a:bodyPr>
          <a:lstStyle/>
          <a:p>
            <a:pPr algn="l">
              <a:defRPr sz="1400" b="0">
                <a:solidFill>
                  <a:srgbClr val="00C878"/>
                </a:solidFill>
                <a:latin typeface="Calibri"/>
              </a:defRPr>
            </a:pPr>
            <a:r>
              <a:t>Out-of-possession positioning — tactical context, not a quality metric</a:t>
            </a:r>
          </a:p>
        </p:txBody>
      </p:sp>
      <p:sp>
        <p:nvSpPr>
          <p:cNvPr id="4" name="TextBox 3"/>
          <p:cNvSpPr txBox="1"/>
          <p:nvPr/>
        </p:nvSpPr>
        <p:spPr>
          <a:xfrm>
            <a:off x="457200" y="1371600"/>
            <a:ext cx="5943600" cy="5029200"/>
          </a:xfrm>
          <a:prstGeom prst="rect">
            <a:avLst/>
          </a:prstGeom>
          <a:noFill/>
        </p:spPr>
        <p:txBody>
          <a:bodyPr wrap="square">
            <a:spAutoFit/>
          </a:bodyPr>
          <a:lstStyle/>
          <a:p>
            <a:pPr algn="l">
              <a:spcAft>
                <a:spcPts val="400"/>
              </a:spcAft>
            </a:pPr>
            <a:r>
              <a:rPr sz="1600" b="1">
                <a:solidFill>
                  <a:srgbClr val="FFFFFF"/>
                </a:solidFill>
                <a:latin typeface="Calibri"/>
              </a:rPr>
              <a:t>Why?</a:t>
            </a:r>
          </a:p>
          <a:p>
            <a:pPr algn="l">
              <a:spcAft>
                <a:spcPts val="400"/>
              </a:spcAft>
            </a:pPr>
            <a:r>
              <a:rPr sz="1300" b="0">
                <a:solidFill>
                  <a:srgbClr val="FFFFFF"/>
                </a:solidFill>
                <a:latin typeface="Calibri"/>
              </a:rPr>
              <a:t>Block % tells the LLM WHERE the team defends — high line or deep block.</a:t>
            </a:r>
          </a:p>
          <a:p>
            <a:pPr algn="l">
              <a:spcAft>
                <a:spcPts val="400"/>
              </a:spcAft>
            </a:pPr>
            <a:r>
              <a:rPr sz="1300" b="0">
                <a:solidFill>
                  <a:srgbClr val="FFFFFF"/>
                </a:solidFill>
                <a:latin typeface="Calibri"/>
              </a:rPr>
              <a:t>This frames the pressing metrics: a deep team pressing poorly means</a:t>
            </a:r>
          </a:p>
          <a:p>
            <a:pPr algn="l">
              <a:spcAft>
                <a:spcPts val="400"/>
              </a:spcAft>
            </a:pPr>
            <a:r>
              <a:rPr sz="1300" b="0">
                <a:solidFill>
                  <a:srgbClr val="FFFFFF"/>
                </a:solidFill>
                <a:latin typeface="Calibri"/>
              </a:rPr>
              <a:t>something different from a high-line team pressing poorly.</a:t>
            </a:r>
          </a:p>
          <a:p>
            <a:pPr algn="l">
              <a:spcAft>
                <a:spcPts val="400"/>
              </a:spcAft>
            </a:pPr>
            <a:r>
              <a:rPr sz="800" b="0">
                <a:solidFill>
                  <a:srgbClr val="FFFFFF"/>
                </a:solidFill>
                <a:latin typeface="Calibri"/>
              </a:rPr>
              <a:t/>
            </a:r>
          </a:p>
          <a:p>
            <a:pPr algn="l">
              <a:spcAft>
                <a:spcPts val="400"/>
              </a:spcAft>
            </a:pPr>
            <a:r>
              <a:rPr sz="1600" b="1">
                <a:solidFill>
                  <a:srgbClr val="FFFFFF"/>
                </a:solidFill>
                <a:latin typeface="Calibri"/>
              </a:rPr>
              <a:t>Design decisions:</a:t>
            </a:r>
          </a:p>
          <a:p>
            <a:pPr algn="l">
              <a:spcAft>
                <a:spcPts val="400"/>
              </a:spcAft>
            </a:pPr>
            <a:r>
              <a:rPr sz="1300" b="0">
                <a:solidFill>
                  <a:srgbClr val="AAAAAA"/>
                </a:solidFill>
                <a:latin typeface="Calibri"/>
              </a:rPr>
              <a:t>• Not in the metrics CSV — loaded from pressing_league_table.csv separately</a:t>
            </a:r>
          </a:p>
          <a:p>
            <a:pPr algn="l">
              <a:spcAft>
                <a:spcPts val="400"/>
              </a:spcAft>
            </a:pPr>
            <a:r>
              <a:rPr sz="1300" b="0">
                <a:solidFill>
                  <a:srgbClr val="AAAAAA"/>
                </a:solidFill>
                <a:latin typeface="Calibri"/>
              </a:rPr>
              <a:t>• Not z-scored or ranked as a quality metric</a:t>
            </a:r>
          </a:p>
          <a:p>
            <a:pPr algn="l">
              <a:spcAft>
                <a:spcPts val="400"/>
              </a:spcAft>
            </a:pPr>
            <a:r>
              <a:rPr sz="1300" b="0">
                <a:solidFill>
                  <a:srgbClr val="AAAAAA"/>
                </a:solidFill>
                <a:latin typeface="Calibri"/>
              </a:rPr>
              <a:t>• Explicitly marked: "This is not a quality judgement"</a:t>
            </a:r>
          </a:p>
          <a:p>
            <a:pPr algn="l">
              <a:spcAft>
                <a:spcPts val="400"/>
              </a:spcAft>
            </a:pPr>
            <a:r>
              <a:rPr sz="1300" b="0">
                <a:solidFill>
                  <a:srgbClr val="AAAAAA"/>
                </a:solidFill>
                <a:latin typeface="Calibri"/>
              </a:rPr>
              <a:t>• Few-shot examples updated to demonstrate how LLM should weave it in</a:t>
            </a:r>
          </a:p>
          <a:p>
            <a:pPr algn="l">
              <a:spcAft>
                <a:spcPts val="400"/>
              </a:spcAft>
            </a:pPr>
            <a:r>
              <a:rPr sz="800" b="0">
                <a:solidFill>
                  <a:srgbClr val="FFFFFF"/>
                </a:solidFill>
                <a:latin typeface="Calibri"/>
              </a:rPr>
              <a:t/>
            </a:r>
          </a:p>
          <a:p>
            <a:pPr algn="l">
              <a:spcAft>
                <a:spcPts val="400"/>
              </a:spcAft>
            </a:pPr>
            <a:r>
              <a:rPr sz="1400" b="1">
                <a:solidFill>
                  <a:srgbClr val="FFFFFF"/>
                </a:solidFill>
                <a:latin typeface="Calibri"/>
              </a:rPr>
              <a:t>League range:</a:t>
            </a:r>
          </a:p>
          <a:p>
            <a:pPr algn="l">
              <a:spcAft>
                <a:spcPts val="400"/>
              </a:spcAft>
            </a:pPr>
            <a:r>
              <a:rPr sz="1300" b="0">
                <a:solidFill>
                  <a:srgbClr val="00C878"/>
                </a:solidFill>
                <a:latin typeface="Calibri"/>
              </a:rPr>
              <a:t>Min: 85.8% (Nottingham)  —  Max: 93.8% (Brighton)  —  Median: 91.4%</a:t>
            </a:r>
          </a:p>
        </p:txBody>
      </p:sp>
      <p:sp>
        <p:nvSpPr>
          <p:cNvPr id="5" name="TextBox 4"/>
          <p:cNvSpPr txBox="1"/>
          <p:nvPr/>
        </p:nvSpPr>
        <p:spPr>
          <a:xfrm>
            <a:off x="7315200" y="1371600"/>
            <a:ext cx="4114800" cy="4572000"/>
          </a:xfrm>
          <a:prstGeom prst="rect">
            <a:avLst/>
          </a:prstGeom>
          <a:noFill/>
        </p:spPr>
        <p:txBody>
          <a:bodyPr wrap="square">
            <a:spAutoFit/>
          </a:bodyPr>
          <a:lstStyle/>
          <a:p>
            <a:pPr algn="l">
              <a:spcAft>
                <a:spcPts val="400"/>
              </a:spcAft>
            </a:pPr>
            <a:r>
              <a:rPr sz="1400" b="1">
                <a:solidFill>
                  <a:srgbClr val="00C878"/>
                </a:solidFill>
                <a:latin typeface="Calibri"/>
              </a:rPr>
              <a:t>Highest Block %</a:t>
            </a:r>
          </a:p>
          <a:p>
            <a:pPr algn="l">
              <a:spcAft>
                <a:spcPts val="400"/>
              </a:spcAft>
            </a:pPr>
            <a:r>
              <a:rPr sz="1200" b="0">
                <a:solidFill>
                  <a:srgbClr val="FFFFFF"/>
                </a:solidFill>
                <a:latin typeface="Calibri"/>
              </a:rPr>
              <a:t>  Brighton: 93.8%</a:t>
            </a:r>
          </a:p>
          <a:p>
            <a:pPr algn="l">
              <a:spcAft>
                <a:spcPts val="400"/>
              </a:spcAft>
            </a:pPr>
            <a:r>
              <a:rPr sz="1200" b="0">
                <a:solidFill>
                  <a:srgbClr val="FFFFFF"/>
                </a:solidFill>
                <a:latin typeface="Calibri"/>
              </a:rPr>
              <a:t>  Manchester City: 93.7%</a:t>
            </a:r>
          </a:p>
          <a:p>
            <a:pPr algn="l">
              <a:spcAft>
                <a:spcPts val="400"/>
              </a:spcAft>
            </a:pPr>
            <a:r>
              <a:rPr sz="1200" b="0">
                <a:solidFill>
                  <a:srgbClr val="FFFFFF"/>
                </a:solidFill>
                <a:latin typeface="Calibri"/>
              </a:rPr>
              <a:t>  Chelsea: 93.1%</a:t>
            </a:r>
          </a:p>
          <a:p>
            <a:pPr algn="l">
              <a:spcAft>
                <a:spcPts val="400"/>
              </a:spcAft>
            </a:pPr>
            <a:r>
              <a:rPr sz="1200" b="0">
                <a:solidFill>
                  <a:srgbClr val="FFFFFF"/>
                </a:solidFill>
                <a:latin typeface="Calibri"/>
              </a:rPr>
              <a:t>  Brentford FC: 92.9%</a:t>
            </a:r>
          </a:p>
          <a:p>
            <a:pPr algn="l">
              <a:spcAft>
                <a:spcPts val="400"/>
              </a:spcAft>
            </a:pPr>
            <a:r>
              <a:rPr sz="1200" b="0">
                <a:solidFill>
                  <a:srgbClr val="FFFFFF"/>
                </a:solidFill>
                <a:latin typeface="Calibri"/>
              </a:rPr>
              <a:t>  Tottenham: 92.8%</a:t>
            </a:r>
          </a:p>
          <a:p>
            <a:pPr algn="l">
              <a:spcAft>
                <a:spcPts val="400"/>
              </a:spcAft>
            </a:pPr>
            <a:r>
              <a:rPr sz="800" b="0">
                <a:solidFill>
                  <a:srgbClr val="FFFFFF"/>
                </a:solidFill>
                <a:latin typeface="Calibri"/>
              </a:rPr>
              <a:t/>
            </a:r>
          </a:p>
          <a:p>
            <a:pPr algn="l">
              <a:spcAft>
                <a:spcPts val="400"/>
              </a:spcAft>
            </a:pPr>
            <a:r>
              <a:rPr sz="1400" b="1">
                <a:solidFill>
                  <a:srgbClr val="FF6464"/>
                </a:solidFill>
                <a:latin typeface="Calibri"/>
              </a:rPr>
              <a:t>Lowest Block %</a:t>
            </a:r>
          </a:p>
          <a:p>
            <a:pPr algn="l">
              <a:spcAft>
                <a:spcPts val="400"/>
              </a:spcAft>
            </a:pPr>
            <a:r>
              <a:rPr sz="1200" b="0">
                <a:solidFill>
                  <a:srgbClr val="FFFFFF"/>
                </a:solidFill>
                <a:latin typeface="Calibri"/>
              </a:rPr>
              <a:t>  Nottingham: 85.8%</a:t>
            </a:r>
          </a:p>
          <a:p>
            <a:pPr algn="l">
              <a:spcAft>
                <a:spcPts val="400"/>
              </a:spcAft>
            </a:pPr>
            <a:r>
              <a:rPr sz="1200" b="0">
                <a:solidFill>
                  <a:srgbClr val="FFFFFF"/>
                </a:solidFill>
                <a:latin typeface="Calibri"/>
              </a:rPr>
              <a:t>  Everton: 88.7%</a:t>
            </a:r>
          </a:p>
          <a:p>
            <a:pPr algn="l">
              <a:spcAft>
                <a:spcPts val="400"/>
              </a:spcAft>
            </a:pPr>
            <a:r>
              <a:rPr sz="1200" b="0">
                <a:solidFill>
                  <a:srgbClr val="FFFFFF"/>
                </a:solidFill>
                <a:latin typeface="Calibri"/>
              </a:rPr>
              <a:t>  Crystal Palace: 89.4%</a:t>
            </a:r>
          </a:p>
          <a:p>
            <a:pPr algn="l">
              <a:spcAft>
                <a:spcPts val="400"/>
              </a:spcAft>
            </a:pPr>
            <a:r>
              <a:rPr sz="1200" b="0">
                <a:solidFill>
                  <a:srgbClr val="FFFFFF"/>
                </a:solidFill>
                <a:latin typeface="Calibri"/>
              </a:rPr>
              <a:t>  Fulham: 89.9%</a:t>
            </a:r>
          </a:p>
          <a:p>
            <a:pPr algn="l">
              <a:spcAft>
                <a:spcPts val="400"/>
              </a:spcAft>
            </a:pPr>
            <a:r>
              <a:rPr sz="1200" b="0">
                <a:solidFill>
                  <a:srgbClr val="FFFFFF"/>
                </a:solidFill>
                <a:latin typeface="Calibri"/>
              </a:rPr>
              <a:t>  Aston Villa: 90.1%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Example — Ipswich Town</a:t>
            </a:r>
          </a:p>
        </p:txBody>
      </p:sp>
      <p:sp>
        <p:nvSpPr>
          <p:cNvPr id="3" name="TextBox 2"/>
          <p:cNvSpPr txBox="1"/>
          <p:nvPr/>
        </p:nvSpPr>
        <p:spPr>
          <a:xfrm>
            <a:off x="457200" y="914400"/>
            <a:ext cx="182880" cy="274320"/>
          </a:xfrm>
          <a:prstGeom prst="rect">
            <a:avLst/>
          </a:prstGeom>
          <a:noFill/>
        </p:spPr>
        <p:txBody>
          <a:bodyPr wrap="square">
            <a:spAutoFit/>
          </a:bodyPr>
          <a:lstStyle/>
          <a:p>
            <a:pPr algn="l">
              <a:defRPr sz="1200" b="1">
                <a:solidFill>
                  <a:srgbClr val="00C878"/>
                </a:solidFill>
                <a:latin typeface="Calibri"/>
              </a:defRPr>
            </a:pPr>
            <a:r>
              <a:t>LLM Output:</a:t>
            </a:r>
          </a:p>
        </p:txBody>
      </p:sp>
      <p:sp>
        <p:nvSpPr>
          <p:cNvPr id="4" name="TextBox 3"/>
          <p:cNvSpPr txBox="1"/>
          <p:nvPr/>
        </p:nvSpPr>
        <p:spPr>
          <a:xfrm>
            <a:off x="457200" y="1188720"/>
            <a:ext cx="5303520" cy="3200400"/>
          </a:xfrm>
          <a:prstGeom prst="rect">
            <a:avLst/>
          </a:prstGeom>
          <a:noFill/>
        </p:spPr>
        <p:txBody>
          <a:bodyPr wrap="square">
            <a:spAutoFit/>
          </a:bodyPr>
          <a:lstStyle/>
          <a:p>
            <a:pPr algn="l">
              <a:defRPr sz="1200" b="0">
                <a:solidFill>
                  <a:srgbClr val="FFFFFF"/>
                </a:solidFill>
                <a:latin typeface="Calibri"/>
              </a:defRPr>
            </a:pPr>
            <a:r>
              <a:t>Ipswich press at a standard rate but the structure behind that press is fragile — the press is very slow to step in, allowing opponents to circulate freely, and rarely forces them into long balls. Opponents escape the press more often than against most sides and retain their passing quality comfortably, meaning the engagement offers minimal genuine disruption. The one redeeming element is that when opponents do escape, they score less often than against most teams, suggesting some capacity to absorb danger deeper. Overall, Ipswich run a press that lacks structural intensity and coordination, relying on deeper defensive resilience rather than front-foot disruption.</a:t>
            </a:r>
          </a:p>
        </p:txBody>
      </p:sp>
      <p:sp>
        <p:nvSpPr>
          <p:cNvPr id="5" name="TextBox 4"/>
          <p:cNvSpPr txBox="1"/>
          <p:nvPr/>
        </p:nvSpPr>
        <p:spPr>
          <a:xfrm>
            <a:off x="6217920" y="914400"/>
            <a:ext cx="5486400" cy="5486400"/>
          </a:xfrm>
          <a:prstGeom prst="rect">
            <a:avLst/>
          </a:prstGeom>
          <a:noFill/>
        </p:spPr>
        <p:txBody>
          <a:bodyPr wrap="square">
            <a:spAutoFit/>
          </a:bodyPr>
          <a:lstStyle/>
          <a:p>
            <a:pPr algn="l">
              <a:spcAft>
                <a:spcPts val="300"/>
              </a:spcAft>
            </a:pPr>
            <a:r>
              <a:rPr sz="1200" b="1">
                <a:solidFill>
                  <a:srgbClr val="00C878"/>
                </a:solidFill>
                <a:latin typeface="Calibri"/>
              </a:rPr>
              <a:t>What the LLM received:</a:t>
            </a:r>
          </a:p>
          <a:p>
            <a:pPr algn="l">
              <a:spcAft>
                <a:spcPts val="300"/>
              </a:spcAft>
            </a:pPr>
            <a:r>
              <a:rPr sz="400" b="0">
                <a:solidFill>
                  <a:srgbClr val="FFFFFF"/>
                </a:solidFill>
                <a:latin typeface="Calibri"/>
              </a:rPr>
              <a:t/>
            </a:r>
          </a:p>
          <a:p>
            <a:pPr algn="l">
              <a:spcAft>
                <a:spcPts val="300"/>
              </a:spcAft>
            </a:pPr>
            <a:r>
              <a:rPr sz="1100" b="1">
                <a:solidFill>
                  <a:srgbClr val="FFFFFF"/>
                </a:solidFill>
                <a:latin typeface="Calibri"/>
              </a:rPr>
              <a:t>Neutral:</a:t>
            </a:r>
          </a:p>
          <a:p>
            <a:pPr algn="l">
              <a:spcAft>
                <a:spcPts val="300"/>
              </a:spcAft>
            </a:pPr>
            <a:r>
              <a:rPr sz="1000" b="0">
                <a:solidFill>
                  <a:srgbClr val="AAAAAA"/>
                </a:solidFill>
                <a:latin typeface="Calibri"/>
              </a:rPr>
              <a:t>  Pressing Chains Per Match — 19.76 — 10th</a:t>
            </a:r>
          </a:p>
          <a:p>
            <a:pPr algn="l">
              <a:spcAft>
                <a:spcPts val="300"/>
              </a:spcAft>
            </a:pPr>
            <a:r>
              <a:rPr sz="1000" b="0">
                <a:solidFill>
                  <a:srgbClr val="AAAAAA"/>
                </a:solidFill>
                <a:latin typeface="Calibri"/>
              </a:rPr>
              <a:t>  Opp. Long Balls Forced Per Match — 7.97 — 12th</a:t>
            </a:r>
          </a:p>
          <a:p>
            <a:pPr algn="l">
              <a:spcAft>
                <a:spcPts val="300"/>
              </a:spcAft>
            </a:pPr>
            <a:r>
              <a:rPr sz="300" b="0">
                <a:solidFill>
                  <a:srgbClr val="FFFFFF"/>
                </a:solidFill>
                <a:latin typeface="Calibri"/>
              </a:rPr>
              <a:t/>
            </a:r>
          </a:p>
          <a:p>
            <a:pPr algn="l">
              <a:spcAft>
                <a:spcPts val="300"/>
              </a:spcAft>
            </a:pPr>
            <a:r>
              <a:rPr sz="1100" b="1">
                <a:solidFill>
                  <a:srgbClr val="FF6464"/>
                </a:solidFill>
                <a:latin typeface="Calibri"/>
              </a:rPr>
              <a:t>Weaknesses:</a:t>
            </a:r>
          </a:p>
          <a:p>
            <a:pPr algn="l">
              <a:spcAft>
                <a:spcPts val="300"/>
              </a:spcAft>
            </a:pPr>
            <a:r>
              <a:rPr sz="1000" b="0">
                <a:solidFill>
                  <a:srgbClr val="FFFFFF"/>
                </a:solidFill>
                <a:latin typeface="Calibri"/>
              </a:rPr>
              <a:t>  Regains In Opp. Half Per Match — 24.13 — 17th</a:t>
            </a:r>
          </a:p>
          <a:p>
            <a:pPr algn="l">
              <a:spcAft>
                <a:spcPts val="300"/>
              </a:spcAft>
            </a:pPr>
            <a:r>
              <a:rPr sz="1000" b="0">
                <a:solidFill>
                  <a:srgbClr val="FFFFFF"/>
                </a:solidFill>
                <a:latin typeface="Calibri"/>
              </a:rPr>
              <a:t>  Press Break Rate In Opp. Half — 71.11% — 19th</a:t>
            </a:r>
          </a:p>
          <a:p>
            <a:pPr algn="l">
              <a:spcAft>
                <a:spcPts val="300"/>
              </a:spcAft>
            </a:pPr>
            <a:r>
              <a:rPr sz="1000" b="0">
                <a:solidFill>
                  <a:srgbClr val="FFFFFF"/>
                </a:solidFill>
                <a:latin typeface="Calibri"/>
              </a:rPr>
              <a:t>  Opp. Goals After Broken Press Per Match — 0.24 — 19th</a:t>
            </a:r>
          </a:p>
          <a:p>
            <a:pPr algn="l">
              <a:spcAft>
                <a:spcPts val="300"/>
              </a:spcAft>
            </a:pPr>
            <a:r>
              <a:rPr sz="1000" b="0">
                <a:solidFill>
                  <a:srgbClr val="FFFFFF"/>
                </a:solidFill>
                <a:latin typeface="Calibri"/>
              </a:rPr>
              <a:t>  Opp. Pass Accuracy Under Pressure — 92.25% — 20th</a:t>
            </a:r>
          </a:p>
          <a:p>
            <a:pPr algn="l">
              <a:spcAft>
                <a:spcPts val="300"/>
              </a:spcAft>
            </a:pPr>
            <a:r>
              <a:rPr sz="1000" b="0">
                <a:solidFill>
                  <a:srgbClr val="FFFFFF"/>
                </a:solidFill>
                <a:latin typeface="Calibri"/>
              </a:rPr>
              <a:t>  Opp. Line-Breaking Pass Rate Under Pressure — 17.72% — 16th</a:t>
            </a:r>
          </a:p>
          <a:p>
            <a:pPr algn="l">
              <a:spcAft>
                <a:spcPts val="300"/>
              </a:spcAft>
            </a:pPr>
            <a:r>
              <a:rPr sz="1000" b="0">
                <a:solidFill>
                  <a:srgbClr val="FFFFFF"/>
                </a:solidFill>
                <a:latin typeface="Calibri"/>
              </a:rPr>
              <a:t>  PPDA — 12.10 — 20th</a:t>
            </a:r>
          </a:p>
          <a:p>
            <a:pPr algn="l">
              <a:spcAft>
                <a:spcPts val="300"/>
              </a:spcAft>
            </a:pPr>
            <a:r>
              <a:rPr sz="400" b="0">
                <a:solidFill>
                  <a:srgbClr val="FFFFFF"/>
                </a:solidFill>
                <a:latin typeface="Calibri"/>
              </a:rPr>
              <a:t/>
            </a:r>
          </a:p>
          <a:p>
            <a:pPr algn="l">
              <a:spcAft>
                <a:spcPts val="300"/>
              </a:spcAft>
            </a:pPr>
            <a:r>
              <a:rPr sz="1000" b="0">
                <a:solidFill>
                  <a:srgbClr val="787878"/>
                </a:solidFill>
                <a:latin typeface="Calibri"/>
              </a:rPr>
              <a:t>Block: 91.9% (8th of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74320"/>
            <a:ext cx="11277295" cy="548640"/>
          </a:xfrm>
          <a:prstGeom prst="rect">
            <a:avLst/>
          </a:prstGeom>
          <a:noFill/>
        </p:spPr>
        <p:txBody>
          <a:bodyPr wrap="square">
            <a:spAutoFit/>
          </a:bodyPr>
          <a:lstStyle/>
          <a:p>
            <a:pPr algn="l">
              <a:defRPr sz="2800" b="1">
                <a:solidFill>
                  <a:srgbClr val="FFFFFF"/>
                </a:solidFill>
                <a:latin typeface="Calibri"/>
              </a:defRPr>
            </a:pPr>
            <a:r>
              <a:t>Context Engineering — Key Decisions</a:t>
            </a:r>
          </a:p>
        </p:txBody>
      </p:sp>
      <p:sp>
        <p:nvSpPr>
          <p:cNvPr id="3" name="TextBox 2"/>
          <p:cNvSpPr txBox="1"/>
          <p:nvPr/>
        </p:nvSpPr>
        <p:spPr>
          <a:xfrm>
            <a:off x="457200" y="1097280"/>
            <a:ext cx="10972800" cy="5486400"/>
          </a:xfrm>
          <a:prstGeom prst="rect">
            <a:avLst/>
          </a:prstGeom>
          <a:noFill/>
        </p:spPr>
        <p:txBody>
          <a:bodyPr wrap="square">
            <a:spAutoFit/>
          </a:bodyPr>
          <a:lstStyle/>
          <a:p>
            <a:pPr algn="l">
              <a:spcAft>
                <a:spcPts val="200"/>
              </a:spcAft>
            </a:pPr>
            <a:r>
              <a:rPr sz="1500" b="1">
                <a:solidFill>
                  <a:srgbClr val="00C878"/>
                </a:solidFill>
                <a:latin typeface="Calibri"/>
              </a:rPr>
              <a:t>1. Pre-interpret, don't delegate</a:t>
            </a:r>
          </a:p>
          <a:p>
            <a:pPr algn="l">
              <a:spcAft>
                <a:spcPts val="200"/>
              </a:spcAft>
            </a:pPr>
            <a:r>
              <a:rPr sz="1300" b="0">
                <a:solidFill>
                  <a:srgbClr val="FFFFFF"/>
                </a:solidFill>
                <a:latin typeface="Calibri"/>
              </a:rPr>
              <a:t>   METRIC_CONSEQUENCES converts z-scores into football language before the LLM sees them.</a:t>
            </a:r>
          </a:p>
          <a:p>
            <a:pPr algn="l">
              <a:spcAft>
                <a:spcPts val="200"/>
              </a:spcAft>
            </a:pPr>
            <a:r>
              <a:rPr sz="1300" b="0">
                <a:solidFill>
                  <a:srgbClr val="AAAAAA"/>
                </a:solidFill>
                <a:latin typeface="Calibri"/>
              </a:rPr>
              <a:t>   The LLM never needs to understand statistics — only tactics.</a:t>
            </a:r>
          </a:p>
          <a:p>
            <a:pPr algn="l">
              <a:spcAft>
                <a:spcPts val="200"/>
              </a:spcAft>
            </a:pPr>
            <a:r>
              <a:rPr sz="600" b="0">
                <a:solidFill>
                  <a:srgbClr val="FFFFFF"/>
                </a:solidFill>
                <a:latin typeface="Calibri"/>
              </a:rPr>
              <a:t/>
            </a:r>
          </a:p>
          <a:p>
            <a:pPr algn="l">
              <a:spcAft>
                <a:spcPts val="200"/>
              </a:spcAft>
            </a:pPr>
            <a:r>
              <a:rPr sz="1500" b="1">
                <a:solidFill>
                  <a:srgbClr val="00C878"/>
                </a:solidFill>
                <a:latin typeface="Calibri"/>
              </a:rPr>
              <a:t>2. Structure the data</a:t>
            </a:r>
          </a:p>
          <a:p>
            <a:pPr algn="l">
              <a:spcAft>
                <a:spcPts val="200"/>
              </a:spcAft>
            </a:pPr>
            <a:r>
              <a:rPr sz="1300" b="0">
                <a:solidFill>
                  <a:srgbClr val="FFFFFF"/>
                </a:solidFill>
                <a:latin typeface="Calibri"/>
              </a:rPr>
              <a:t>   Metrics are pre-grouped into Strengths / Neutral / Weaknesses.</a:t>
            </a:r>
          </a:p>
          <a:p>
            <a:pPr algn="l">
              <a:spcAft>
                <a:spcPts val="200"/>
              </a:spcAft>
            </a:pPr>
            <a:r>
              <a:rPr sz="1300" b="0">
                <a:solidFill>
                  <a:srgbClr val="AAAAAA"/>
                </a:solidFill>
                <a:latin typeface="Calibri"/>
              </a:rPr>
              <a:t>   The LLM doesn't decide what's good or bad — that's already done.</a:t>
            </a:r>
          </a:p>
          <a:p>
            <a:pPr algn="l">
              <a:spcAft>
                <a:spcPts val="200"/>
              </a:spcAft>
            </a:pPr>
            <a:r>
              <a:rPr sz="600" b="0">
                <a:solidFill>
                  <a:srgbClr val="FFFFFF"/>
                </a:solidFill>
                <a:latin typeface="Calibri"/>
              </a:rPr>
              <a:t/>
            </a:r>
          </a:p>
          <a:p>
            <a:pPr algn="l">
              <a:spcAft>
                <a:spcPts val="200"/>
              </a:spcAft>
            </a:pPr>
            <a:r>
              <a:rPr sz="1500" b="1">
                <a:solidFill>
                  <a:srgbClr val="00C878"/>
                </a:solidFill>
                <a:latin typeface="Calibri"/>
              </a:rPr>
              <a:t>3. Separate context from metrics</a:t>
            </a:r>
          </a:p>
          <a:p>
            <a:pPr algn="l">
              <a:spcAft>
                <a:spcPts val="200"/>
              </a:spcAft>
            </a:pPr>
            <a:r>
              <a:rPr sz="1300" b="0">
                <a:solidFill>
                  <a:srgbClr val="FFFFFF"/>
                </a:solidFill>
                <a:latin typeface="Calibri"/>
              </a:rPr>
              <a:t>   Block % is loaded from a different CSV, not z-scored, and marked as preference, not quality.</a:t>
            </a:r>
          </a:p>
          <a:p>
            <a:pPr algn="l">
              <a:spcAft>
                <a:spcPts val="200"/>
              </a:spcAft>
            </a:pPr>
            <a:r>
              <a:rPr sz="600" b="0">
                <a:solidFill>
                  <a:srgbClr val="FFFFFF"/>
                </a:solidFill>
                <a:latin typeface="Calibri"/>
              </a:rPr>
              <a:t/>
            </a:r>
          </a:p>
          <a:p>
            <a:pPr algn="l">
              <a:spcAft>
                <a:spcPts val="200"/>
              </a:spcAft>
            </a:pPr>
            <a:r>
              <a:rPr sz="1500" b="1">
                <a:solidFill>
                  <a:srgbClr val="00C878"/>
                </a:solidFill>
                <a:latin typeface="Calibri"/>
              </a:rPr>
              <a:t>4. Constrain the output</a:t>
            </a:r>
          </a:p>
          <a:p>
            <a:pPr algn="l">
              <a:spcAft>
                <a:spcPts val="200"/>
              </a:spcAft>
            </a:pPr>
            <a:r>
              <a:rPr sz="1300" b="0">
                <a:solidFill>
                  <a:srgbClr val="FFFFFF"/>
                </a:solidFill>
                <a:latin typeface="Calibri"/>
              </a:rPr>
              <a:t>   Explicit bans: no metric names, no level labels, no parenthetical refs.</a:t>
            </a:r>
          </a:p>
          <a:p>
            <a:pPr algn="l">
              <a:spcAft>
                <a:spcPts val="200"/>
              </a:spcAft>
            </a:pPr>
            <a:r>
              <a:rPr sz="1300" b="0">
                <a:solidFill>
                  <a:srgbClr val="AAAAAA"/>
                </a:solidFill>
                <a:latin typeface="Calibri"/>
              </a:rPr>
              <a:t>   Specific hallucination examples listed (rapid restarts, transition speed).</a:t>
            </a:r>
          </a:p>
          <a:p>
            <a:pPr algn="l">
              <a:spcAft>
                <a:spcPts val="200"/>
              </a:spcAft>
            </a:pPr>
            <a:r>
              <a:rPr sz="600" b="0">
                <a:solidFill>
                  <a:srgbClr val="FFFFFF"/>
                </a:solidFill>
                <a:latin typeface="Calibri"/>
              </a:rPr>
              <a:t/>
            </a:r>
          </a:p>
          <a:p>
            <a:pPr algn="l">
              <a:spcAft>
                <a:spcPts val="200"/>
              </a:spcAft>
            </a:pPr>
            <a:r>
              <a:rPr sz="1500" b="1">
                <a:solidFill>
                  <a:srgbClr val="00C878"/>
                </a:solidFill>
                <a:latin typeface="Calibri"/>
              </a:rPr>
              <a:t>5. Show, don't just tell</a:t>
            </a:r>
          </a:p>
          <a:p>
            <a:pPr algn="l">
              <a:spcAft>
                <a:spcPts val="200"/>
              </a:spcAft>
            </a:pPr>
            <a:r>
              <a:rPr sz="1300" b="0">
                <a:solidFill>
                  <a:srgbClr val="FFFFFF"/>
                </a:solidFill>
                <a:latin typeface="Calibri"/>
              </a:rPr>
              <a:t>   4 few-shot examples cover diverse profiles (aggressive, selective, weak, neutral).</a:t>
            </a:r>
          </a:p>
          <a:p>
            <a:pPr algn="l">
              <a:spcAft>
                <a:spcPts val="200"/>
              </a:spcAft>
            </a:pPr>
            <a:r>
              <a:rPr sz="1300" b="0">
                <a:solidFill>
                  <a:srgbClr val="AAAAAA"/>
                </a:solidFill>
                <a:latin typeface="Calibri"/>
              </a:rPr>
              <a:t>   Each demonstrates 8/8 metric coverage and natural block-height integration.</a:t>
            </a:r>
          </a:p>
          <a:p>
            <a:pPr algn="l">
              <a:spcAft>
                <a:spcPts val="200"/>
              </a:spcAft>
            </a:pPr>
            <a:r>
              <a:rPr sz="600" b="0">
                <a:solidFill>
                  <a:srgbClr val="FFFFFF"/>
                </a:solidFill>
                <a:latin typeface="Calibri"/>
              </a:rPr>
              <a:t/>
            </a:r>
          </a:p>
          <a:p>
            <a:pPr algn="l">
              <a:spcAft>
                <a:spcPts val="200"/>
              </a:spcAft>
            </a:pPr>
            <a:r>
              <a:rPr sz="1500" b="1">
                <a:solidFill>
                  <a:srgbClr val="00C878"/>
                </a:solidFill>
                <a:latin typeface="Calibri"/>
              </a:rPr>
              <a:t>6. Ground the chat</a:t>
            </a:r>
          </a:p>
          <a:p>
            <a:pPr algn="l">
              <a:spcAft>
                <a:spcPts val="200"/>
              </a:spcAft>
            </a:pPr>
            <a:r>
              <a:rPr sz="1300" b="0">
                <a:solidFill>
                  <a:srgbClr val="FFFFFF"/>
                </a:solidFill>
                <a:latin typeface="Calibri"/>
              </a:rPr>
              <a:t>   Every follow-up answer is grounded in synthesized text + embedding RAG.</a:t>
            </a:r>
          </a:p>
          <a:p>
            <a:pPr algn="l">
              <a:spcAft>
                <a:spcPts val="200"/>
              </a:spcAft>
            </a:pPr>
            <a:r>
              <a:rPr sz="1300" b="0">
                <a:solidFill>
                  <a:srgbClr val="AAAAAA"/>
                </a:solidFill>
                <a:latin typeface="Calibri"/>
              </a:rPr>
              <a:t>   Temperature 0.3 — consistency over creativity.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457200" y="2286000"/>
            <a:ext cx="11277295" cy="914400"/>
          </a:xfrm>
          <a:prstGeom prst="rect">
            <a:avLst/>
          </a:prstGeom>
          <a:noFill/>
        </p:spPr>
        <p:txBody>
          <a:bodyPr wrap="square">
            <a:spAutoFit/>
          </a:bodyPr>
          <a:lstStyle/>
          <a:p>
            <a:pPr algn="ctr">
              <a:defRPr sz="3600" b="1">
                <a:solidFill>
                  <a:srgbClr val="FFFFFF"/>
                </a:solidFill>
                <a:latin typeface="Calibri"/>
              </a:defRPr>
            </a:pPr>
            <a:r>
              <a:t>Ideas?  Comments?  Questions?</a:t>
            </a:r>
          </a:p>
        </p:txBody>
      </p:sp>
      <p:sp>
        <p:nvSpPr>
          <p:cNvPr id="3" name="TextBox 2"/>
          <p:cNvSpPr txBox="1"/>
          <p:nvPr/>
        </p:nvSpPr>
        <p:spPr>
          <a:xfrm>
            <a:off x="457200" y="3657600"/>
            <a:ext cx="11277295" cy="457200"/>
          </a:xfrm>
          <a:prstGeom prst="rect">
            <a:avLst/>
          </a:prstGeom>
          <a:noFill/>
        </p:spPr>
        <p:txBody>
          <a:bodyPr wrap="square">
            <a:spAutoFit/>
          </a:bodyPr>
          <a:lstStyle/>
          <a:p>
            <a:pPr algn="ctr">
              <a:defRPr sz="1400" b="0">
                <a:solidFill>
                  <a:srgbClr val="00C878"/>
                </a:solidFill>
                <a:latin typeface="Calibri"/>
              </a:defRPr>
            </a:pPr>
            <a:r>
              <a:t>github.com/soccermatics/twelve-gpt-educational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